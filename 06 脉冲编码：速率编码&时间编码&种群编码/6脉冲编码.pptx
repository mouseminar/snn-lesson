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60" r:id="rId2"/>
    <p:sldId id="280" r:id="rId3"/>
    <p:sldId id="307" r:id="rId4"/>
    <p:sldId id="309" r:id="rId5"/>
    <p:sldId id="308" r:id="rId6"/>
    <p:sldId id="310" r:id="rId7"/>
    <p:sldId id="311" r:id="rId8"/>
    <p:sldId id="312" r:id="rId9"/>
    <p:sldId id="313" r:id="rId10"/>
    <p:sldId id="314" r:id="rId11"/>
    <p:sldId id="315" r:id="rId12"/>
    <p:sldId id="317" r:id="rId13"/>
    <p:sldId id="316" r:id="rId14"/>
    <p:sldId id="318" r:id="rId15"/>
    <p:sldId id="319" r:id="rId16"/>
    <p:sldId id="320" r:id="rId17"/>
    <p:sldId id="322" r:id="rId18"/>
    <p:sldId id="323" r:id="rId19"/>
    <p:sldId id="328" r:id="rId20"/>
    <p:sldId id="324" r:id="rId21"/>
    <p:sldId id="331" r:id="rId22"/>
    <p:sldId id="332" r:id="rId23"/>
    <p:sldId id="333" r:id="rId24"/>
    <p:sldId id="334" r:id="rId25"/>
    <p:sldId id="325" r:id="rId26"/>
    <p:sldId id="330" r:id="rId27"/>
    <p:sldId id="327" r:id="rId28"/>
    <p:sldId id="326" r:id="rId29"/>
    <p:sldId id="33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72797" autoAdjust="0"/>
  </p:normalViewPr>
  <p:slideViewPr>
    <p:cSldViewPr snapToGrid="0" showGuides="1">
      <p:cViewPr varScale="1">
        <p:scale>
          <a:sx n="68" d="100"/>
          <a:sy n="68" d="100"/>
        </p:scale>
        <p:origin x="176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CE734-C1A2-4048-A74A-1439A899873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63E53-B93E-4AD9-A774-33FCCDB55E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471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63E53-B93E-4AD9-A774-33FCCDB55E1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2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63E53-B93E-4AD9-A774-33FCCDB55E1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5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63E53-B93E-4AD9-A774-33FCCDB55E1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45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63E53-B93E-4AD9-A774-33FCCDB55E1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631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63E53-B93E-4AD9-A774-33FCCDB55E1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7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63E53-B93E-4AD9-A774-33FCCDB55E1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626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HnXkBWE9B?spm_id_from=333.788.videopod.sections&amp;vd_source=07c44be34f0e73ec66347ccd7aa3908e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bilibili.com/video/BV1EGgX63E5f?spm_id_from=333.788.videopod.sections&amp;vd_source=07c44be34f0e73ec66347ccd7aa3908e" TargetMode="External"/><Relationship Id="rId4" Type="http://schemas.openxmlformats.org/officeDocument/2006/relationships/hyperlink" Target="https://www.bilibili.com/video/BV18QhQztE6E?spm_id_from=333.788.videopod.sections&amp;vd_source=07c44be34f0e73ec66347ccd7aa3908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51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2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738499-9130-43B9-B0C4-C7DA2FA45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8B6E28-652F-43E2-A021-2CF626F6CDAB}"/>
              </a:ext>
            </a:extLst>
          </p:cNvPr>
          <p:cNvSpPr txBox="1"/>
          <p:nvPr/>
        </p:nvSpPr>
        <p:spPr>
          <a:xfrm>
            <a:off x="9230051" y="6282328"/>
            <a:ext cx="315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B</a:t>
            </a:r>
            <a:r>
              <a:rPr lang="zh-CN" altLang="en-US" sz="1800" b="1" dirty="0"/>
              <a:t>站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Github</a:t>
            </a:r>
            <a:r>
              <a:rPr lang="zh-CN" altLang="en-US" sz="1800" b="1" dirty="0"/>
              <a:t>：</a:t>
            </a:r>
            <a:r>
              <a:rPr lang="en-US" altLang="zh-CN" sz="1800" b="1" dirty="0" err="1"/>
              <a:t>Mouseminar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02010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831159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往期视频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70DEF3-F01A-436A-AC38-6D83872A388D}"/>
              </a:ext>
            </a:extLst>
          </p:cNvPr>
          <p:cNvSpPr txBox="1"/>
          <p:nvPr/>
        </p:nvSpPr>
        <p:spPr>
          <a:xfrm>
            <a:off x="162559" y="1590301"/>
            <a:ext cx="7281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hlinkClick r:id="rId3"/>
              </a:rPr>
              <a:t>【SNN</a:t>
            </a:r>
            <a:r>
              <a:rPr lang="zh-CN" altLang="en-US">
                <a:hlinkClick r:id="rId3"/>
              </a:rPr>
              <a:t>脉冲神经网络入门实战</a:t>
            </a:r>
            <a:r>
              <a:rPr lang="en-US" altLang="zh-CN">
                <a:hlinkClick r:id="rId3"/>
              </a:rPr>
              <a:t>04】SNN</a:t>
            </a:r>
            <a:r>
              <a:rPr lang="zh-CN" altLang="en-US">
                <a:hlinkClick r:id="rId3"/>
              </a:rPr>
              <a:t>的前向传播</a:t>
            </a:r>
            <a:r>
              <a:rPr lang="en-US" altLang="zh-CN">
                <a:hlinkClick r:id="rId3"/>
              </a:rPr>
              <a:t>_</a:t>
            </a:r>
            <a:r>
              <a:rPr lang="zh-CN" altLang="en-US">
                <a:hlinkClick r:id="rId3"/>
              </a:rPr>
              <a:t>哔哩哔哩</a:t>
            </a:r>
            <a:r>
              <a:rPr lang="en-US" altLang="zh-CN">
                <a:hlinkClick r:id="rId3"/>
              </a:rPr>
              <a:t>_bilibili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9BC736-4232-4367-86BD-8569F7F3557B}"/>
              </a:ext>
            </a:extLst>
          </p:cNvPr>
          <p:cNvSpPr txBox="1"/>
          <p:nvPr/>
        </p:nvSpPr>
        <p:spPr>
          <a:xfrm>
            <a:off x="162559" y="1167580"/>
            <a:ext cx="7836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【SNN</a:t>
            </a:r>
            <a:r>
              <a:rPr lang="zh-CN" altLang="en-US" dirty="0">
                <a:hlinkClick r:id="rId4"/>
              </a:rPr>
              <a:t>脉冲神经网络入门实战</a:t>
            </a:r>
            <a:r>
              <a:rPr lang="en-US" altLang="zh-CN" dirty="0">
                <a:hlinkClick r:id="rId4"/>
              </a:rPr>
              <a:t>03】</a:t>
            </a:r>
            <a:r>
              <a:rPr lang="zh-CN" altLang="en-US" dirty="0">
                <a:hlinkClick r:id="rId4"/>
              </a:rPr>
              <a:t>快速搭建一个</a:t>
            </a:r>
            <a:r>
              <a:rPr lang="en-US" altLang="zh-CN" dirty="0">
                <a:hlinkClick r:id="rId4"/>
              </a:rPr>
              <a:t>SNN_</a:t>
            </a:r>
            <a:r>
              <a:rPr lang="zh-CN" altLang="en-US" dirty="0">
                <a:hlinkClick r:id="rId4"/>
              </a:rPr>
              <a:t>哔哩哔哩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bilibili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ECC57B-E018-4274-8428-1B9807F117C0}"/>
              </a:ext>
            </a:extLst>
          </p:cNvPr>
          <p:cNvSpPr txBox="1"/>
          <p:nvPr/>
        </p:nvSpPr>
        <p:spPr>
          <a:xfrm>
            <a:off x="162559" y="2013022"/>
            <a:ext cx="10559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5"/>
              </a:rPr>
              <a:t>【SNN</a:t>
            </a:r>
            <a:r>
              <a:rPr lang="zh-CN" altLang="en-US" dirty="0">
                <a:hlinkClick r:id="rId5"/>
              </a:rPr>
              <a:t>脉冲神经网络入门实战</a:t>
            </a:r>
            <a:r>
              <a:rPr lang="en-US" altLang="zh-CN" dirty="0">
                <a:hlinkClick r:id="rId5"/>
              </a:rPr>
              <a:t>05】SNN</a:t>
            </a:r>
            <a:r>
              <a:rPr lang="zh-CN" altLang="en-US" dirty="0">
                <a:hlinkClick r:id="rId5"/>
              </a:rPr>
              <a:t>的反向传播：</a:t>
            </a:r>
            <a:r>
              <a:rPr lang="en-US" altLang="zh-CN" dirty="0">
                <a:hlinkClick r:id="rId5"/>
              </a:rPr>
              <a:t>BPTT | </a:t>
            </a:r>
            <a:r>
              <a:rPr lang="zh-CN" altLang="en-US" dirty="0">
                <a:hlinkClick r:id="rId5"/>
              </a:rPr>
              <a:t>梯度替代训练算法</a:t>
            </a:r>
            <a:r>
              <a:rPr lang="en-US" altLang="zh-CN" dirty="0">
                <a:hlinkClick r:id="rId5"/>
              </a:rPr>
              <a:t>_</a:t>
            </a:r>
            <a:r>
              <a:rPr lang="zh-CN" altLang="en-US" dirty="0">
                <a:hlinkClick r:id="rId5"/>
              </a:rPr>
              <a:t>哔哩哔哩</a:t>
            </a:r>
            <a:r>
              <a:rPr lang="en-US" altLang="zh-CN" dirty="0">
                <a:hlinkClick r:id="rId5"/>
              </a:rPr>
              <a:t>_</a:t>
            </a:r>
            <a:r>
              <a:rPr lang="en-US" altLang="zh-CN" dirty="0" err="1">
                <a:hlinkClick r:id="rId5"/>
              </a:rPr>
              <a:t>bilibili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5847D5-6C8D-47B5-BC2F-00ACCCB93A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10" y="2858464"/>
            <a:ext cx="10336575" cy="310206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4D10E3A-0407-4584-8C09-AEEF8457A4A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365" y="4475647"/>
            <a:ext cx="1796440" cy="229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4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B4C0EC-A68D-4A8D-A380-F496708F0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453" y="1929514"/>
            <a:ext cx="7878071" cy="408200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9AECE09-BE9E-440B-8D17-4501B7EA94CD}"/>
              </a:ext>
            </a:extLst>
          </p:cNvPr>
          <p:cNvSpPr txBox="1"/>
          <p:nvPr/>
        </p:nvSpPr>
        <p:spPr>
          <a:xfrm>
            <a:off x="2018453" y="6064467"/>
            <a:ext cx="7796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Eshraghian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J K, Ward M, 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Neftci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 O, et al. Training spiking neural networks using lessons from deep learning[J]. Proceedings of the IEEE, 2023, 111(9): 1016-1054.</a:t>
            </a:r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505107-38C8-4088-922D-8402B04186FE}"/>
              </a:ext>
            </a:extLst>
          </p:cNvPr>
          <p:cNvSpPr/>
          <p:nvPr/>
        </p:nvSpPr>
        <p:spPr>
          <a:xfrm>
            <a:off x="2018453" y="2629316"/>
            <a:ext cx="2614507" cy="31970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B9D177-9C96-4396-82B9-584EBF4AE8C1}"/>
              </a:ext>
            </a:extLst>
          </p:cNvPr>
          <p:cNvSpPr txBox="1"/>
          <p:nvPr/>
        </p:nvSpPr>
        <p:spPr>
          <a:xfrm>
            <a:off x="216746" y="124109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脉冲编码在</a:t>
            </a:r>
            <a:r>
              <a:rPr lang="en-US" altLang="zh-CN" sz="2400" dirty="0"/>
              <a:t>SNN</a:t>
            </a:r>
            <a:r>
              <a:rPr lang="zh-CN" altLang="en-US" sz="2400" dirty="0"/>
              <a:t>中的生态位</a:t>
            </a:r>
          </a:p>
        </p:txBody>
      </p:sp>
    </p:spTree>
    <p:extLst>
      <p:ext uri="{BB962C8B-B14F-4D97-AF65-F5344CB8AC3E}">
        <p14:creationId xmlns:p14="http://schemas.microsoft.com/office/powerpoint/2010/main" val="286221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AECE09-BE9E-440B-8D17-4501B7EA94CD}"/>
              </a:ext>
            </a:extLst>
          </p:cNvPr>
          <p:cNvSpPr txBox="1"/>
          <p:nvPr/>
        </p:nvSpPr>
        <p:spPr>
          <a:xfrm>
            <a:off x="4209626" y="1338126"/>
            <a:ext cx="836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Eshraghian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J K, Ward M, 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Neftci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 O, et al. Training spiking neural networks using lessons from deep learning[J]. Proceedings of the IEEE, 2023, 111(9): 1016-1054.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B9D177-9C96-4396-82B9-584EBF4AE8C1}"/>
              </a:ext>
            </a:extLst>
          </p:cNvPr>
          <p:cNvSpPr txBox="1"/>
          <p:nvPr/>
        </p:nvSpPr>
        <p:spPr>
          <a:xfrm>
            <a:off x="260879" y="128416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引入脉冲编码🧠⚡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F127F3-F9EF-45D2-BA61-7549A2EED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36" y="1952385"/>
            <a:ext cx="3583094" cy="263044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2E48BDE-E437-40FF-ADBB-3EA2762CE456}"/>
              </a:ext>
            </a:extLst>
          </p:cNvPr>
          <p:cNvSpPr txBox="1"/>
          <p:nvPr/>
        </p:nvSpPr>
        <p:spPr>
          <a:xfrm>
            <a:off x="4604635" y="2036501"/>
            <a:ext cx="6996239" cy="24622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我们看到光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当视网膜（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retina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）将光子转换为脉冲（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spikes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）时，我们便产生了视觉。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我们闻到气味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当鼻子处理挥发性分子并将其转换为脉冲时，我们产生了嗅觉。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我们感受到触觉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当神经末梢将压力转换为脉冲时，我们感受到触碰。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大脑中使用一种通用的“货币”进行交流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那就是脉冲（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但是，如果所有脉冲看起来都是一样的，那么它们又如何携带不同的信息和意义呢？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关于脉冲编码（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 encoding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），神经网络中有两个部分需要分别考虑：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）输入编码（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encoding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将输入数据转换成脉冲，然后将这些脉冲传递给神经网络。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）输出解码（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decoding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训练网络的输出，使其产生具有意义、能够表达有效信息的脉冲。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7D450BE-1F25-4DD5-AA48-81FD708C3DDA}"/>
              </a:ext>
            </a:extLst>
          </p:cNvPr>
          <p:cNvSpPr/>
          <p:nvPr/>
        </p:nvSpPr>
        <p:spPr>
          <a:xfrm>
            <a:off x="-1" y="4874722"/>
            <a:ext cx="4123113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SNN 需要脉冲编码？</a:t>
            </a:r>
            <a:endParaRPr lang="en-US" sz="2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E240022-E734-447F-9B67-53A961264179}"/>
              </a:ext>
            </a:extLst>
          </p:cNvPr>
          <p:cNvSpPr/>
          <p:nvPr/>
        </p:nvSpPr>
        <p:spPr>
          <a:xfrm>
            <a:off x="5017194" y="4970734"/>
            <a:ext cx="3788201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8C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从连续数据到时空脉冲序列的桥梁</a:t>
            </a:r>
            <a:endParaRPr lang="en-US" sz="17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6ABC299F-8E32-421D-BD2C-57232E0991FB}"/>
              </a:ext>
            </a:extLst>
          </p:cNvPr>
          <p:cNvSpPr/>
          <p:nvPr/>
        </p:nvSpPr>
        <p:spPr>
          <a:xfrm>
            <a:off x="8988275" y="5126182"/>
            <a:ext cx="914400" cy="0"/>
          </a:xfrm>
          <a:prstGeom prst="line">
            <a:avLst/>
          </a:prstGeom>
          <a:noFill/>
          <a:ln w="17780">
            <a:solidFill>
              <a:srgbClr val="008C95"/>
            </a:solidFill>
            <a:prstDash val="solid"/>
          </a:ln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93AF3234-66C1-44E0-9426-CE488C146E48}"/>
              </a:ext>
            </a:extLst>
          </p:cNvPr>
          <p:cNvSpPr/>
          <p:nvPr/>
        </p:nvSpPr>
        <p:spPr>
          <a:xfrm>
            <a:off x="9902675" y="5080462"/>
            <a:ext cx="82296" cy="82296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727BFC95-6040-4239-A2AD-5DAB2776DFEC}"/>
              </a:ext>
            </a:extLst>
          </p:cNvPr>
          <p:cNvSpPr/>
          <p:nvPr/>
        </p:nvSpPr>
        <p:spPr>
          <a:xfrm>
            <a:off x="602674" y="5715289"/>
            <a:ext cx="2057400" cy="848175"/>
          </a:xfrm>
          <a:prstGeom prst="roundRect">
            <a:avLst>
              <a:gd name="adj" fmla="val 3636"/>
            </a:avLst>
          </a:prstGeom>
          <a:solidFill>
            <a:srgbClr val="F8FCFF"/>
          </a:solidFill>
          <a:ln w="15240">
            <a:solidFill>
              <a:srgbClr val="008C95"/>
            </a:solidFill>
            <a:prstDash val="solid"/>
          </a:ln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69BEC3F-8EC4-4C03-8AD8-D78C8D9BBC5C}"/>
              </a:ext>
            </a:extLst>
          </p:cNvPr>
          <p:cNvSpPr/>
          <p:nvPr/>
        </p:nvSpPr>
        <p:spPr>
          <a:xfrm>
            <a:off x="712402" y="5568985"/>
            <a:ext cx="1837944" cy="310896"/>
          </a:xfrm>
          <a:prstGeom prst="roundRect">
            <a:avLst>
              <a:gd name="adj" fmla="val 23529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D277F9B-6400-48EA-9AF7-99C181B41F4A}"/>
              </a:ext>
            </a:extLst>
          </p:cNvPr>
          <p:cNvSpPr/>
          <p:nvPr/>
        </p:nvSpPr>
        <p:spPr>
          <a:xfrm>
            <a:off x="785554" y="5614705"/>
            <a:ext cx="169164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现实输入</a:t>
            </a:r>
            <a:endParaRPr lang="en-US" sz="14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2008FA4-2531-477B-AD66-931405BEA41F}"/>
              </a:ext>
            </a:extLst>
          </p:cNvPr>
          <p:cNvSpPr/>
          <p:nvPr/>
        </p:nvSpPr>
        <p:spPr>
          <a:xfrm>
            <a:off x="765531" y="5855913"/>
            <a:ext cx="1783080" cy="7315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图像、语音、传感器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通常是</a:t>
            </a:r>
            <a:r>
              <a:rPr lang="en-US" sz="1500" dirty="0">
                <a:solidFill>
                  <a:srgbClr val="4D5562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连续值</a:t>
            </a:r>
            <a:r>
              <a:rPr 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x</a:t>
            </a:r>
            <a:endParaRPr lang="en-US" sz="15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14D5BF93-9B89-4FA5-8AE6-55D62C29CB27}"/>
              </a:ext>
            </a:extLst>
          </p:cNvPr>
          <p:cNvSpPr/>
          <p:nvPr/>
        </p:nvSpPr>
        <p:spPr>
          <a:xfrm>
            <a:off x="3457557" y="5715289"/>
            <a:ext cx="2057400" cy="872144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0B66C3"/>
            </a:solidFill>
            <a:prstDash val="solid"/>
          </a:ln>
        </p:spPr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097DD644-31D8-4594-AA26-2174C5EDF59B}"/>
              </a:ext>
            </a:extLst>
          </p:cNvPr>
          <p:cNvSpPr/>
          <p:nvPr/>
        </p:nvSpPr>
        <p:spPr>
          <a:xfrm>
            <a:off x="3567285" y="5568985"/>
            <a:ext cx="1837944" cy="310896"/>
          </a:xfrm>
          <a:prstGeom prst="roundRect">
            <a:avLst>
              <a:gd name="adj" fmla="val 23529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7833D689-27F6-4F7C-B43D-A7999E94FF4C}"/>
              </a:ext>
            </a:extLst>
          </p:cNvPr>
          <p:cNvSpPr/>
          <p:nvPr/>
        </p:nvSpPr>
        <p:spPr>
          <a:xfrm>
            <a:off x="3640437" y="5614705"/>
            <a:ext cx="169164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编码器</a:t>
            </a:r>
            <a:endParaRPr lang="en-US" sz="14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ECD72E8A-8A43-4271-BD2A-8F3651413994}"/>
              </a:ext>
            </a:extLst>
          </p:cNvPr>
          <p:cNvSpPr/>
          <p:nvPr/>
        </p:nvSpPr>
        <p:spPr>
          <a:xfrm>
            <a:off x="3548997" y="5867897"/>
            <a:ext cx="1783080" cy="7315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x 映射为</a:t>
            </a:r>
            <a:endParaRPr lang="en-US" sz="1500" dirty="0"/>
          </a:p>
          <a:p>
            <a:pPr marL="0" indent="0" algn="ctr">
              <a:buNone/>
            </a:pPr>
            <a:r>
              <a:rPr lang="zh-CN" altLang="en-US" sz="1500" dirty="0">
                <a:solidFill>
                  <a:srgbClr val="4D5562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脉冲</a:t>
            </a:r>
            <a:r>
              <a:rPr lang="en-US" sz="1500" dirty="0" err="1">
                <a:solidFill>
                  <a:srgbClr val="4D5562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时间序列</a:t>
            </a:r>
            <a:r>
              <a:rPr lang="en-US" sz="1500" dirty="0">
                <a:solidFill>
                  <a:srgbClr val="4D5562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s(t)</a:t>
            </a:r>
            <a:endParaRPr lang="en-US" sz="1500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4EC081A8-7E1E-4561-812E-0E5B22EBBF25}"/>
              </a:ext>
            </a:extLst>
          </p:cNvPr>
          <p:cNvSpPr/>
          <p:nvPr/>
        </p:nvSpPr>
        <p:spPr>
          <a:xfrm>
            <a:off x="6295887" y="5715290"/>
            <a:ext cx="2057400" cy="872144"/>
          </a:xfrm>
          <a:prstGeom prst="roundRect">
            <a:avLst>
              <a:gd name="adj" fmla="val 3636"/>
            </a:avLst>
          </a:prstGeom>
          <a:solidFill>
            <a:srgbClr val="F8FCFF"/>
          </a:solidFill>
          <a:ln w="15240">
            <a:solidFill>
              <a:srgbClr val="F47C00"/>
            </a:solidFill>
            <a:prstDash val="solid"/>
          </a:ln>
        </p:spPr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C06BF3D3-39FB-4454-A175-EF4FD71D8A43}"/>
              </a:ext>
            </a:extLst>
          </p:cNvPr>
          <p:cNvSpPr/>
          <p:nvPr/>
        </p:nvSpPr>
        <p:spPr>
          <a:xfrm>
            <a:off x="6405615" y="5568985"/>
            <a:ext cx="1837944" cy="310896"/>
          </a:xfrm>
          <a:prstGeom prst="roundRect">
            <a:avLst>
              <a:gd name="adj" fmla="val 23529"/>
            </a:avLst>
          </a:prstGeom>
          <a:solidFill>
            <a:srgbClr val="F47C00"/>
          </a:solidFill>
          <a:ln w="12700">
            <a:solidFill>
              <a:srgbClr val="F47C00"/>
            </a:solidFill>
            <a:prstDash val="solid"/>
          </a:ln>
        </p:spPr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E4A2C00E-C67C-4CA7-A93E-360ABEFBC0A0}"/>
              </a:ext>
            </a:extLst>
          </p:cNvPr>
          <p:cNvSpPr/>
          <p:nvPr/>
        </p:nvSpPr>
        <p:spPr>
          <a:xfrm>
            <a:off x="6478767" y="5614705"/>
            <a:ext cx="169164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SNN 计算</a:t>
            </a:r>
            <a:endParaRPr lang="en-US" sz="14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23B6FEE7-6E71-4A51-A22B-74DB0D447B31}"/>
              </a:ext>
            </a:extLst>
          </p:cNvPr>
          <p:cNvSpPr/>
          <p:nvPr/>
        </p:nvSpPr>
        <p:spPr>
          <a:xfrm>
            <a:off x="6356879" y="5855913"/>
            <a:ext cx="1920240" cy="7315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</a:t>
            </a:r>
            <a:r>
              <a:rPr lang="zh-CN" alt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>
              <a:solidFill>
                <a:srgbClr val="4D55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线性计算</a:t>
            </a:r>
            <a:r>
              <a:rPr lang="en-US" altLang="zh-CN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阈值激活</a:t>
            </a:r>
            <a:endParaRPr lang="en-US" sz="15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5EE380A2-1CFE-4F01-97AB-39F3B059ADD4}"/>
              </a:ext>
            </a:extLst>
          </p:cNvPr>
          <p:cNvSpPr/>
          <p:nvPr/>
        </p:nvSpPr>
        <p:spPr>
          <a:xfrm>
            <a:off x="9144189" y="5715290"/>
            <a:ext cx="2057400" cy="848174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6A3DA8"/>
            </a:solidFill>
            <a:prstDash val="solid"/>
          </a:ln>
        </p:spPr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EF582F61-E5F0-4BB0-92E2-BF8F323F6211}"/>
              </a:ext>
            </a:extLst>
          </p:cNvPr>
          <p:cNvSpPr/>
          <p:nvPr/>
        </p:nvSpPr>
        <p:spPr>
          <a:xfrm>
            <a:off x="9253917" y="5568985"/>
            <a:ext cx="1837944" cy="310896"/>
          </a:xfrm>
          <a:prstGeom prst="roundRect">
            <a:avLst>
              <a:gd name="adj" fmla="val 23529"/>
            </a:avLst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EE5D557E-1F7E-4B44-8B84-5B42DB4F6173}"/>
              </a:ext>
            </a:extLst>
          </p:cNvPr>
          <p:cNvSpPr/>
          <p:nvPr/>
        </p:nvSpPr>
        <p:spPr>
          <a:xfrm>
            <a:off x="9327069" y="5614705"/>
            <a:ext cx="169164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解码 / 输出</a:t>
            </a:r>
            <a:endParaRPr lang="en-US" sz="14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A68FD2A7-E211-4317-9D12-E276C51A9792}"/>
              </a:ext>
            </a:extLst>
          </p:cNvPr>
          <p:cNvSpPr/>
          <p:nvPr/>
        </p:nvSpPr>
        <p:spPr>
          <a:xfrm>
            <a:off x="9088036" y="5855913"/>
            <a:ext cx="2169706" cy="7315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把时序活动聚合为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分类、回归或控制信号</a:t>
            </a:r>
            <a:endParaRPr lang="en-US" sz="15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CF531EF3-D688-4141-9B2C-A5C80F498B55}"/>
              </a:ext>
            </a:extLst>
          </p:cNvPr>
          <p:cNvSpPr/>
          <p:nvPr/>
        </p:nvSpPr>
        <p:spPr>
          <a:xfrm>
            <a:off x="3970206" y="5126182"/>
            <a:ext cx="914400" cy="0"/>
          </a:xfrm>
          <a:prstGeom prst="line">
            <a:avLst/>
          </a:prstGeom>
          <a:noFill/>
          <a:ln w="17780">
            <a:solidFill>
              <a:srgbClr val="F47C00"/>
            </a:solidFill>
            <a:prstDash val="solid"/>
          </a:ln>
        </p:spPr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B68D78D4-3BC1-4113-B684-53B590915ADF}"/>
              </a:ext>
            </a:extLst>
          </p:cNvPr>
          <p:cNvSpPr/>
          <p:nvPr/>
        </p:nvSpPr>
        <p:spPr>
          <a:xfrm>
            <a:off x="3906198" y="5080462"/>
            <a:ext cx="82296" cy="82296"/>
          </a:xfrm>
          <a:prstGeom prst="ellipse">
            <a:avLst/>
          </a:prstGeom>
          <a:solidFill>
            <a:srgbClr val="F47C00"/>
          </a:solidFill>
          <a:ln w="12700">
            <a:solidFill>
              <a:srgbClr val="F47C00"/>
            </a:solidFill>
            <a:prstDash val="solid"/>
          </a:ln>
        </p:spPr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4A8A3D1D-9894-483E-994B-4400C50F09E7}"/>
              </a:ext>
            </a:extLst>
          </p:cNvPr>
          <p:cNvSpPr/>
          <p:nvPr/>
        </p:nvSpPr>
        <p:spPr>
          <a:xfrm>
            <a:off x="2660074" y="5947792"/>
            <a:ext cx="780930" cy="3325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8BAD58CD-EC08-4D0E-B9D8-CBE800E6B2DB}"/>
              </a:ext>
            </a:extLst>
          </p:cNvPr>
          <p:cNvSpPr/>
          <p:nvPr/>
        </p:nvSpPr>
        <p:spPr>
          <a:xfrm>
            <a:off x="5513588" y="5985106"/>
            <a:ext cx="780930" cy="3325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36E0703B-359A-4BC1-A152-896A7CC92AEF}"/>
              </a:ext>
            </a:extLst>
          </p:cNvPr>
          <p:cNvSpPr/>
          <p:nvPr/>
        </p:nvSpPr>
        <p:spPr>
          <a:xfrm>
            <a:off x="8366672" y="5985106"/>
            <a:ext cx="780930" cy="3325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96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165101" y="1153864"/>
            <a:ext cx="3776980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人类如何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</a:t>
            </a:r>
            <a:r>
              <a:rPr lang="en-US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脉冲编码</a:t>
            </a:r>
            <a:r>
              <a:rPr 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6FC907-A00D-4FAD-AD8B-5BBBEC5DEE10}"/>
              </a:ext>
            </a:extLst>
          </p:cNvPr>
          <p:cNvSpPr/>
          <p:nvPr/>
        </p:nvSpPr>
        <p:spPr>
          <a:xfrm>
            <a:off x="4579621" y="1762296"/>
            <a:ext cx="4745736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8C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从“频率代表强度”到“多种时间语言并存”</a:t>
            </a:r>
            <a:endParaRPr lang="en-US" sz="17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7C1C9B-A1B5-4DFE-9CC1-20F478DF41D6}"/>
              </a:ext>
            </a:extLst>
          </p:cNvPr>
          <p:cNvSpPr/>
          <p:nvPr/>
        </p:nvSpPr>
        <p:spPr>
          <a:xfrm>
            <a:off x="3482341" y="1917744"/>
            <a:ext cx="914400" cy="0"/>
          </a:xfrm>
          <a:prstGeom prst="line">
            <a:avLst/>
          </a:prstGeom>
          <a:noFill/>
          <a:ln w="17780">
            <a:solidFill>
              <a:srgbClr val="F47C00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F50F39-C6B4-40EF-99BC-785DBDBA66DB}"/>
              </a:ext>
            </a:extLst>
          </p:cNvPr>
          <p:cNvSpPr/>
          <p:nvPr/>
        </p:nvSpPr>
        <p:spPr>
          <a:xfrm>
            <a:off x="3418333" y="1872024"/>
            <a:ext cx="82296" cy="82296"/>
          </a:xfrm>
          <a:prstGeom prst="ellipse">
            <a:avLst/>
          </a:prstGeom>
          <a:solidFill>
            <a:srgbClr val="F47C00"/>
          </a:solidFill>
          <a:ln w="12700">
            <a:solidFill>
              <a:srgbClr val="F47C0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80BD651-7B74-4272-A10F-97819AD316DC}"/>
              </a:ext>
            </a:extLst>
          </p:cNvPr>
          <p:cNvSpPr/>
          <p:nvPr/>
        </p:nvSpPr>
        <p:spPr>
          <a:xfrm>
            <a:off x="9206485" y="1959936"/>
            <a:ext cx="914400" cy="0"/>
          </a:xfrm>
          <a:prstGeom prst="line">
            <a:avLst/>
          </a:prstGeom>
          <a:noFill/>
          <a:ln w="17780">
            <a:solidFill>
              <a:srgbClr val="008C95"/>
            </a:solidFill>
            <a:prstDash val="solid"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C472DAC-FF97-49CD-BC6E-6821BC118739}"/>
              </a:ext>
            </a:extLst>
          </p:cNvPr>
          <p:cNvSpPr/>
          <p:nvPr/>
        </p:nvSpPr>
        <p:spPr>
          <a:xfrm>
            <a:off x="10120885" y="1914216"/>
            <a:ext cx="82296" cy="82296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AFFD7D7-0CBE-48A5-8575-3F4400F35851}"/>
              </a:ext>
            </a:extLst>
          </p:cNvPr>
          <p:cNvSpPr/>
          <p:nvPr/>
        </p:nvSpPr>
        <p:spPr>
          <a:xfrm>
            <a:off x="729997" y="4114238"/>
            <a:ext cx="10469880" cy="0"/>
          </a:xfrm>
          <a:prstGeom prst="line">
            <a:avLst/>
          </a:prstGeom>
          <a:noFill/>
          <a:ln w="25400">
            <a:solidFill>
              <a:srgbClr val="0B1F54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02DBA13-DF56-4D5D-BF6A-24C928CB5C43}"/>
              </a:ext>
            </a:extLst>
          </p:cNvPr>
          <p:cNvSpPr/>
          <p:nvPr/>
        </p:nvSpPr>
        <p:spPr>
          <a:xfrm>
            <a:off x="775717" y="4050230"/>
            <a:ext cx="128016" cy="128016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1EBC5FD-6466-4614-A7A8-A0A71B191B55}"/>
              </a:ext>
            </a:extLst>
          </p:cNvPr>
          <p:cNvSpPr/>
          <p:nvPr/>
        </p:nvSpPr>
        <p:spPr>
          <a:xfrm>
            <a:off x="839725" y="3382718"/>
            <a:ext cx="0" cy="731520"/>
          </a:xfrm>
          <a:prstGeom prst="line">
            <a:avLst/>
          </a:prstGeom>
          <a:noFill/>
          <a:ln w="12700">
            <a:solidFill>
              <a:srgbClr val="008C95"/>
            </a:solidFill>
            <a:prstDash val="solid"/>
          </a:ln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456AE84E-6EC7-40EB-B3A4-1F3B8A6B071A}"/>
              </a:ext>
            </a:extLst>
          </p:cNvPr>
          <p:cNvSpPr/>
          <p:nvPr/>
        </p:nvSpPr>
        <p:spPr>
          <a:xfrm>
            <a:off x="382525" y="2440886"/>
            <a:ext cx="1051560" cy="11704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008C95"/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CF9A245B-9F17-472F-98E7-80F53B45B58E}"/>
              </a:ext>
            </a:extLst>
          </p:cNvPr>
          <p:cNvSpPr/>
          <p:nvPr/>
        </p:nvSpPr>
        <p:spPr>
          <a:xfrm>
            <a:off x="473965" y="2532326"/>
            <a:ext cx="86868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08C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1926</a:t>
            </a:r>
            <a:endParaRPr lang="en-US" sz="12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93F767A-9B5E-4C64-AE92-CBEACB5622FD}"/>
              </a:ext>
            </a:extLst>
          </p:cNvPr>
          <p:cNvSpPr/>
          <p:nvPr/>
        </p:nvSpPr>
        <p:spPr>
          <a:xfrm>
            <a:off x="455677" y="2770070"/>
            <a:ext cx="896112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Adrian &amp; Zotterman</a:t>
            </a:r>
            <a:endParaRPr lang="en-US" sz="10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B4EC5FF-93D7-4CDE-89A6-6C188BC3AD90}"/>
              </a:ext>
            </a:extLst>
          </p:cNvPr>
          <p:cNvSpPr/>
          <p:nvPr/>
        </p:nvSpPr>
        <p:spPr>
          <a:xfrm>
            <a:off x="455677" y="3117542"/>
            <a:ext cx="914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速率：负荷越大，脉冲越密</a:t>
            </a:r>
            <a:endParaRPr lang="en-US" sz="105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60345D8-84DE-428D-81E7-9F4DC6C69FF0}"/>
              </a:ext>
            </a:extLst>
          </p:cNvPr>
          <p:cNvSpPr/>
          <p:nvPr/>
        </p:nvSpPr>
        <p:spPr>
          <a:xfrm>
            <a:off x="2165605" y="4050230"/>
            <a:ext cx="128016" cy="128016"/>
          </a:xfrm>
          <a:prstGeom prst="ellipse">
            <a:avLst/>
          </a:prstGeom>
          <a:solidFill>
            <a:srgbClr val="1D9A50"/>
          </a:solidFill>
          <a:ln w="12700">
            <a:solidFill>
              <a:srgbClr val="1D9A50"/>
            </a:solidFill>
            <a:prstDash val="solid"/>
          </a:ln>
        </p:spPr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27FD967-D061-4BAF-8BAB-50C9C910FB17}"/>
              </a:ext>
            </a:extLst>
          </p:cNvPr>
          <p:cNvSpPr/>
          <p:nvPr/>
        </p:nvSpPr>
        <p:spPr>
          <a:xfrm>
            <a:off x="2229613" y="4114238"/>
            <a:ext cx="0" cy="457200"/>
          </a:xfrm>
          <a:prstGeom prst="line">
            <a:avLst/>
          </a:prstGeom>
          <a:noFill/>
          <a:ln w="12700">
            <a:solidFill>
              <a:srgbClr val="1D9A50"/>
            </a:solidFill>
            <a:prstDash val="solid"/>
          </a:ln>
        </p:spPr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CD4CD26C-AF88-4A41-BAB3-A77AD39BDA32}"/>
              </a:ext>
            </a:extLst>
          </p:cNvPr>
          <p:cNvSpPr/>
          <p:nvPr/>
        </p:nvSpPr>
        <p:spPr>
          <a:xfrm>
            <a:off x="1772413" y="4571438"/>
            <a:ext cx="1051560" cy="11704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1D9A50"/>
            </a:solidFill>
            <a:prstDash val="solid"/>
          </a:ln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A7A982C-0F5B-430D-9B6F-DA82186897A7}"/>
              </a:ext>
            </a:extLst>
          </p:cNvPr>
          <p:cNvSpPr/>
          <p:nvPr/>
        </p:nvSpPr>
        <p:spPr>
          <a:xfrm>
            <a:off x="1863853" y="4662878"/>
            <a:ext cx="86868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D9A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1953</a:t>
            </a:r>
            <a:endParaRPr lang="en-US" sz="12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BC069BA-91D3-4843-AFD5-DB2FDA4E6C4D}"/>
              </a:ext>
            </a:extLst>
          </p:cNvPr>
          <p:cNvSpPr/>
          <p:nvPr/>
        </p:nvSpPr>
        <p:spPr>
          <a:xfrm>
            <a:off x="1845565" y="4900622"/>
            <a:ext cx="896112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Kuffler</a:t>
            </a:r>
            <a:endParaRPr lang="en-US" sz="9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82A322FF-3EA1-40DE-BB76-5ED89C09E85A}"/>
              </a:ext>
            </a:extLst>
          </p:cNvPr>
          <p:cNvSpPr/>
          <p:nvPr/>
        </p:nvSpPr>
        <p:spPr>
          <a:xfrm>
            <a:off x="1845565" y="5145334"/>
            <a:ext cx="896112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视网膜 ON/OFF：变化与边缘</a:t>
            </a:r>
            <a:endParaRPr lang="en-US" sz="105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8813A01B-AF85-47A7-AC64-2C4263A69F7E}"/>
              </a:ext>
            </a:extLst>
          </p:cNvPr>
          <p:cNvSpPr/>
          <p:nvPr/>
        </p:nvSpPr>
        <p:spPr>
          <a:xfrm>
            <a:off x="3555493" y="4050230"/>
            <a:ext cx="128016" cy="128016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DE053A3E-9784-452B-B376-FEDFC8C234B8}"/>
              </a:ext>
            </a:extLst>
          </p:cNvPr>
          <p:cNvSpPr/>
          <p:nvPr/>
        </p:nvSpPr>
        <p:spPr>
          <a:xfrm>
            <a:off x="3619501" y="3382718"/>
            <a:ext cx="0" cy="731520"/>
          </a:xfrm>
          <a:prstGeom prst="line">
            <a:avLst/>
          </a:prstGeom>
          <a:noFill/>
          <a:ln w="12700">
            <a:solidFill>
              <a:srgbClr val="0B66C3"/>
            </a:solidFill>
            <a:prstDash val="solid"/>
          </a:ln>
        </p:spPr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CFF6CE6D-3EC8-4FE9-987A-43B12DAED130}"/>
              </a:ext>
            </a:extLst>
          </p:cNvPr>
          <p:cNvSpPr/>
          <p:nvPr/>
        </p:nvSpPr>
        <p:spPr>
          <a:xfrm>
            <a:off x="3162301" y="2440886"/>
            <a:ext cx="1051560" cy="11704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0B66C3"/>
            </a:solidFill>
            <a:prstDash val="solid"/>
          </a:ln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5C9C231B-66AC-4799-941C-DA4A875F7A82}"/>
              </a:ext>
            </a:extLst>
          </p:cNvPr>
          <p:cNvSpPr/>
          <p:nvPr/>
        </p:nvSpPr>
        <p:spPr>
          <a:xfrm>
            <a:off x="3253741" y="2532326"/>
            <a:ext cx="86868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B66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1967</a:t>
            </a:r>
            <a:endParaRPr lang="en-US" sz="12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D63ED2E7-1548-434A-B30E-4D0E50A9A6E3}"/>
              </a:ext>
            </a:extLst>
          </p:cNvPr>
          <p:cNvSpPr/>
          <p:nvPr/>
        </p:nvSpPr>
        <p:spPr>
          <a:xfrm>
            <a:off x="3235453" y="2770070"/>
            <a:ext cx="896112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Rose 等</a:t>
            </a:r>
            <a:endParaRPr lang="en-US" sz="9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AB518029-8839-42C7-AE9C-14CD8814D347}"/>
              </a:ext>
            </a:extLst>
          </p:cNvPr>
          <p:cNvSpPr/>
          <p:nvPr/>
        </p:nvSpPr>
        <p:spPr>
          <a:xfrm>
            <a:off x="3235453" y="3117542"/>
            <a:ext cx="914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听觉相位锁定</a:t>
            </a:r>
            <a:endParaRPr lang="en-US" sz="105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8C6AF6B3-2B56-4AC7-9EC9-2B03FAE1FBA0}"/>
              </a:ext>
            </a:extLst>
          </p:cNvPr>
          <p:cNvSpPr/>
          <p:nvPr/>
        </p:nvSpPr>
        <p:spPr>
          <a:xfrm>
            <a:off x="4945381" y="4050230"/>
            <a:ext cx="128016" cy="128016"/>
          </a:xfrm>
          <a:prstGeom prst="ellipse">
            <a:avLst/>
          </a:prstGeom>
          <a:solidFill>
            <a:srgbClr val="F47C00"/>
          </a:solidFill>
          <a:ln w="12700">
            <a:solidFill>
              <a:srgbClr val="F47C00"/>
            </a:solidFill>
            <a:prstDash val="solid"/>
          </a:ln>
        </p:spPr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E3DCA56E-D870-4DAE-8D9C-49F5D5EBCDAD}"/>
              </a:ext>
            </a:extLst>
          </p:cNvPr>
          <p:cNvSpPr/>
          <p:nvPr/>
        </p:nvSpPr>
        <p:spPr>
          <a:xfrm>
            <a:off x="5009389" y="4114238"/>
            <a:ext cx="0" cy="457200"/>
          </a:xfrm>
          <a:prstGeom prst="line">
            <a:avLst/>
          </a:prstGeom>
          <a:noFill/>
          <a:ln w="12700">
            <a:solidFill>
              <a:srgbClr val="F47C00"/>
            </a:solidFill>
            <a:prstDash val="solid"/>
          </a:ln>
        </p:spPr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C290A656-6074-493C-A7A7-96DC88B155AD}"/>
              </a:ext>
            </a:extLst>
          </p:cNvPr>
          <p:cNvSpPr/>
          <p:nvPr/>
        </p:nvSpPr>
        <p:spPr>
          <a:xfrm>
            <a:off x="4552189" y="4571438"/>
            <a:ext cx="1051560" cy="11704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F47C00"/>
            </a:solidFill>
            <a:prstDash val="solid"/>
          </a:ln>
        </p:spPr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16B1F512-BBB7-4201-AA0C-B9FF761A86DF}"/>
              </a:ext>
            </a:extLst>
          </p:cNvPr>
          <p:cNvSpPr/>
          <p:nvPr/>
        </p:nvSpPr>
        <p:spPr>
          <a:xfrm>
            <a:off x="4643629" y="4662878"/>
            <a:ext cx="86868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47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1986</a:t>
            </a:r>
            <a:endParaRPr lang="en-US" sz="12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90D7CDC-A879-4B03-BDBE-224D76E0E0F2}"/>
              </a:ext>
            </a:extLst>
          </p:cNvPr>
          <p:cNvSpPr/>
          <p:nvPr/>
        </p:nvSpPr>
        <p:spPr>
          <a:xfrm>
            <a:off x="4625341" y="4900622"/>
            <a:ext cx="896112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Georgopoulos</a:t>
            </a:r>
            <a:endParaRPr lang="en-US" sz="9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55DD2D6A-41D6-48DD-AE03-BC4C6AC677AF}"/>
              </a:ext>
            </a:extLst>
          </p:cNvPr>
          <p:cNvSpPr/>
          <p:nvPr/>
        </p:nvSpPr>
        <p:spPr>
          <a:xfrm>
            <a:off x="4625341" y="5248094"/>
            <a:ext cx="914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运动皮层群体向量</a:t>
            </a:r>
            <a:endParaRPr lang="en-US" sz="1050" dirty="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CB9A42F7-B75B-4106-BD5F-925BE5AA1F9E}"/>
              </a:ext>
            </a:extLst>
          </p:cNvPr>
          <p:cNvSpPr/>
          <p:nvPr/>
        </p:nvSpPr>
        <p:spPr>
          <a:xfrm>
            <a:off x="6335269" y="4050230"/>
            <a:ext cx="128016" cy="128016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515D8BC5-6631-4141-8E9A-DDAB68390514}"/>
              </a:ext>
            </a:extLst>
          </p:cNvPr>
          <p:cNvSpPr/>
          <p:nvPr/>
        </p:nvSpPr>
        <p:spPr>
          <a:xfrm>
            <a:off x="6399277" y="3382718"/>
            <a:ext cx="0" cy="731520"/>
          </a:xfrm>
          <a:prstGeom prst="line">
            <a:avLst/>
          </a:prstGeom>
          <a:noFill/>
          <a:ln w="12700">
            <a:solidFill>
              <a:srgbClr val="6A3DA8"/>
            </a:solidFill>
            <a:prstDash val="solid"/>
          </a:ln>
        </p:spPr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62338C70-EC4E-439B-8897-E98758A94470}"/>
              </a:ext>
            </a:extLst>
          </p:cNvPr>
          <p:cNvSpPr/>
          <p:nvPr/>
        </p:nvSpPr>
        <p:spPr>
          <a:xfrm>
            <a:off x="5942077" y="2440886"/>
            <a:ext cx="1051560" cy="11704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6A3DA8"/>
            </a:solidFill>
            <a:prstDash val="solid"/>
          </a:ln>
        </p:spPr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95448822-C183-4130-8D03-3CF70880D4E2}"/>
              </a:ext>
            </a:extLst>
          </p:cNvPr>
          <p:cNvSpPr/>
          <p:nvPr/>
        </p:nvSpPr>
        <p:spPr>
          <a:xfrm>
            <a:off x="6033517" y="2532326"/>
            <a:ext cx="86868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6A3D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1989</a:t>
            </a:r>
            <a:endParaRPr lang="en-US" sz="1200" dirty="0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B7DA3AC2-2F69-415F-A1E2-A0DB804C460C}"/>
              </a:ext>
            </a:extLst>
          </p:cNvPr>
          <p:cNvSpPr/>
          <p:nvPr/>
        </p:nvSpPr>
        <p:spPr>
          <a:xfrm>
            <a:off x="6015229" y="2770070"/>
            <a:ext cx="896112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Gray 等</a:t>
            </a:r>
            <a:endParaRPr lang="en-US" sz="900" dirty="0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B27DE648-5F98-46A0-B12E-F73D2ED92A12}"/>
              </a:ext>
            </a:extLst>
          </p:cNvPr>
          <p:cNvSpPr/>
          <p:nvPr/>
        </p:nvSpPr>
        <p:spPr>
          <a:xfrm>
            <a:off x="6015229" y="3117542"/>
            <a:ext cx="914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视觉皮层同步</a:t>
            </a:r>
            <a:endParaRPr lang="en-US" sz="1050" dirty="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8D4B1325-B537-4A8D-9CE6-D5A89F4EC4A7}"/>
              </a:ext>
            </a:extLst>
          </p:cNvPr>
          <p:cNvSpPr/>
          <p:nvPr/>
        </p:nvSpPr>
        <p:spPr>
          <a:xfrm>
            <a:off x="7725157" y="4050230"/>
            <a:ext cx="128016" cy="128016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BBB794D0-36C9-4BC1-B44E-D389E2422DC4}"/>
              </a:ext>
            </a:extLst>
          </p:cNvPr>
          <p:cNvSpPr/>
          <p:nvPr/>
        </p:nvSpPr>
        <p:spPr>
          <a:xfrm>
            <a:off x="7789165" y="4114238"/>
            <a:ext cx="0" cy="457200"/>
          </a:xfrm>
          <a:prstGeom prst="line">
            <a:avLst/>
          </a:prstGeom>
          <a:noFill/>
          <a:ln w="12700">
            <a:solidFill>
              <a:srgbClr val="0B66C3"/>
            </a:solidFill>
            <a:prstDash val="solid"/>
          </a:ln>
        </p:spPr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EC367986-9120-42ED-8893-97FAB83D1B9C}"/>
              </a:ext>
            </a:extLst>
          </p:cNvPr>
          <p:cNvSpPr/>
          <p:nvPr/>
        </p:nvSpPr>
        <p:spPr>
          <a:xfrm>
            <a:off x="7331965" y="4571438"/>
            <a:ext cx="1051560" cy="11704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0B66C3"/>
            </a:solidFill>
            <a:prstDash val="solid"/>
          </a:ln>
        </p:spPr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A2596B36-D5BD-46CE-9052-3A6D45B2E729}"/>
              </a:ext>
            </a:extLst>
          </p:cNvPr>
          <p:cNvSpPr/>
          <p:nvPr/>
        </p:nvSpPr>
        <p:spPr>
          <a:xfrm>
            <a:off x="7423405" y="4662878"/>
            <a:ext cx="86868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B66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1993</a:t>
            </a:r>
            <a:endParaRPr lang="en-US" sz="1200" dirty="0"/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D95FADA4-A889-464F-BB11-0CAB21507CE6}"/>
              </a:ext>
            </a:extLst>
          </p:cNvPr>
          <p:cNvSpPr/>
          <p:nvPr/>
        </p:nvSpPr>
        <p:spPr>
          <a:xfrm>
            <a:off x="7405117" y="4900622"/>
            <a:ext cx="896112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Softky/Koch；O’Keefe</a:t>
            </a:r>
            <a:endParaRPr lang="en-US" sz="1000" dirty="0"/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E640C2D3-A55E-49DF-ABA1-375C86EEC63F}"/>
              </a:ext>
            </a:extLst>
          </p:cNvPr>
          <p:cNvSpPr/>
          <p:nvPr/>
        </p:nvSpPr>
        <p:spPr>
          <a:xfrm>
            <a:off x="7405117" y="5248094"/>
            <a:ext cx="914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不规则发放与海马相位进动</a:t>
            </a:r>
            <a:endParaRPr lang="en-US" sz="1050" dirty="0"/>
          </a:p>
        </p:txBody>
      </p:sp>
      <p:sp>
        <p:nvSpPr>
          <p:cNvPr id="51" name="Shape 47">
            <a:extLst>
              <a:ext uri="{FF2B5EF4-FFF2-40B4-BE49-F238E27FC236}">
                <a16:creationId xmlns:a16="http://schemas.microsoft.com/office/drawing/2014/main" id="{EFB8B735-1300-4895-973F-2016A6B97E75}"/>
              </a:ext>
            </a:extLst>
          </p:cNvPr>
          <p:cNvSpPr/>
          <p:nvPr/>
        </p:nvSpPr>
        <p:spPr>
          <a:xfrm>
            <a:off x="9115045" y="4050230"/>
            <a:ext cx="128016" cy="128016"/>
          </a:xfrm>
          <a:prstGeom prst="ellipse">
            <a:avLst/>
          </a:prstGeom>
          <a:solidFill>
            <a:srgbClr val="1D9A50"/>
          </a:solidFill>
          <a:ln w="12700">
            <a:solidFill>
              <a:srgbClr val="1D9A50"/>
            </a:solidFill>
            <a:prstDash val="solid"/>
          </a:ln>
        </p:spPr>
      </p:sp>
      <p:sp>
        <p:nvSpPr>
          <p:cNvPr id="52" name="Shape 48">
            <a:extLst>
              <a:ext uri="{FF2B5EF4-FFF2-40B4-BE49-F238E27FC236}">
                <a16:creationId xmlns:a16="http://schemas.microsoft.com/office/drawing/2014/main" id="{60AF8170-47C1-4E0D-A2F0-4BA09481774B}"/>
              </a:ext>
            </a:extLst>
          </p:cNvPr>
          <p:cNvSpPr/>
          <p:nvPr/>
        </p:nvSpPr>
        <p:spPr>
          <a:xfrm>
            <a:off x="9179053" y="3382718"/>
            <a:ext cx="0" cy="731520"/>
          </a:xfrm>
          <a:prstGeom prst="line">
            <a:avLst/>
          </a:prstGeom>
          <a:noFill/>
          <a:ln w="12700">
            <a:solidFill>
              <a:srgbClr val="1D9A50"/>
            </a:solidFill>
            <a:prstDash val="solid"/>
          </a:ln>
        </p:spPr>
      </p:sp>
      <p:sp>
        <p:nvSpPr>
          <p:cNvPr id="53" name="Shape 49">
            <a:extLst>
              <a:ext uri="{FF2B5EF4-FFF2-40B4-BE49-F238E27FC236}">
                <a16:creationId xmlns:a16="http://schemas.microsoft.com/office/drawing/2014/main" id="{7A5AA115-FCCA-46D1-A138-6BDB23A4DF70}"/>
              </a:ext>
            </a:extLst>
          </p:cNvPr>
          <p:cNvSpPr/>
          <p:nvPr/>
        </p:nvSpPr>
        <p:spPr>
          <a:xfrm>
            <a:off x="8721853" y="2440886"/>
            <a:ext cx="1051560" cy="11704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1D9A50"/>
            </a:solidFill>
            <a:prstDash val="solid"/>
          </a:ln>
        </p:spPr>
      </p:sp>
      <p:sp>
        <p:nvSpPr>
          <p:cNvPr id="54" name="Text 50">
            <a:extLst>
              <a:ext uri="{FF2B5EF4-FFF2-40B4-BE49-F238E27FC236}">
                <a16:creationId xmlns:a16="http://schemas.microsoft.com/office/drawing/2014/main" id="{8D5B068A-AEA0-4E58-8A09-CE5C12BD3402}"/>
              </a:ext>
            </a:extLst>
          </p:cNvPr>
          <p:cNvSpPr/>
          <p:nvPr/>
        </p:nvSpPr>
        <p:spPr>
          <a:xfrm>
            <a:off x="8813293" y="2532326"/>
            <a:ext cx="86868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D9A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2000–2008</a:t>
            </a:r>
            <a:endParaRPr lang="en-US" sz="1200" dirty="0"/>
          </a:p>
        </p:txBody>
      </p:sp>
      <p:sp>
        <p:nvSpPr>
          <p:cNvPr id="55" name="Text 51">
            <a:extLst>
              <a:ext uri="{FF2B5EF4-FFF2-40B4-BE49-F238E27FC236}">
                <a16:creationId xmlns:a16="http://schemas.microsoft.com/office/drawing/2014/main" id="{5D9245CE-DB83-469C-BB81-23F2938A1689}"/>
              </a:ext>
            </a:extLst>
          </p:cNvPr>
          <p:cNvSpPr/>
          <p:nvPr/>
        </p:nvSpPr>
        <p:spPr>
          <a:xfrm>
            <a:off x="8795005" y="2770070"/>
            <a:ext cx="896112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Vinje/Gollisch/Eyherabide</a:t>
            </a:r>
            <a:endParaRPr lang="en-US" sz="900" dirty="0"/>
          </a:p>
        </p:txBody>
      </p:sp>
      <p:sp>
        <p:nvSpPr>
          <p:cNvPr id="56" name="Text 52">
            <a:extLst>
              <a:ext uri="{FF2B5EF4-FFF2-40B4-BE49-F238E27FC236}">
                <a16:creationId xmlns:a16="http://schemas.microsoft.com/office/drawing/2014/main" id="{584B491F-13C0-4ABA-8D5E-0AE121605F60}"/>
              </a:ext>
            </a:extLst>
          </p:cNvPr>
          <p:cNvSpPr/>
          <p:nvPr/>
        </p:nvSpPr>
        <p:spPr>
          <a:xfrm>
            <a:off x="8795005" y="3117542"/>
            <a:ext cx="914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稀疏、首脉冲、burst</a:t>
            </a:r>
            <a:endParaRPr lang="en-US" sz="1050" dirty="0"/>
          </a:p>
        </p:txBody>
      </p:sp>
      <p:sp>
        <p:nvSpPr>
          <p:cNvPr id="57" name="Shape 53">
            <a:extLst>
              <a:ext uri="{FF2B5EF4-FFF2-40B4-BE49-F238E27FC236}">
                <a16:creationId xmlns:a16="http://schemas.microsoft.com/office/drawing/2014/main" id="{32187BD9-DFC6-46E9-B8B7-D62D6C49F212}"/>
              </a:ext>
            </a:extLst>
          </p:cNvPr>
          <p:cNvSpPr/>
          <p:nvPr/>
        </p:nvSpPr>
        <p:spPr>
          <a:xfrm>
            <a:off x="10504933" y="4050230"/>
            <a:ext cx="128016" cy="128016"/>
          </a:xfrm>
          <a:prstGeom prst="ellipse">
            <a:avLst/>
          </a:prstGeom>
          <a:solidFill>
            <a:srgbClr val="F47C00"/>
          </a:solidFill>
          <a:ln w="12700">
            <a:solidFill>
              <a:srgbClr val="F47C00"/>
            </a:solidFill>
            <a:prstDash val="solid"/>
          </a:ln>
        </p:spPr>
      </p:sp>
      <p:sp>
        <p:nvSpPr>
          <p:cNvPr id="58" name="Shape 54">
            <a:extLst>
              <a:ext uri="{FF2B5EF4-FFF2-40B4-BE49-F238E27FC236}">
                <a16:creationId xmlns:a16="http://schemas.microsoft.com/office/drawing/2014/main" id="{D0E673FB-5744-413F-9FE3-677B7F9088B2}"/>
              </a:ext>
            </a:extLst>
          </p:cNvPr>
          <p:cNvSpPr/>
          <p:nvPr/>
        </p:nvSpPr>
        <p:spPr>
          <a:xfrm>
            <a:off x="10568941" y="4114238"/>
            <a:ext cx="0" cy="457200"/>
          </a:xfrm>
          <a:prstGeom prst="line">
            <a:avLst/>
          </a:prstGeom>
          <a:noFill/>
          <a:ln w="12700">
            <a:solidFill>
              <a:srgbClr val="F47C00"/>
            </a:solidFill>
            <a:prstDash val="solid"/>
          </a:ln>
        </p:spPr>
      </p:sp>
      <p:sp>
        <p:nvSpPr>
          <p:cNvPr id="59" name="Shape 55">
            <a:extLst>
              <a:ext uri="{FF2B5EF4-FFF2-40B4-BE49-F238E27FC236}">
                <a16:creationId xmlns:a16="http://schemas.microsoft.com/office/drawing/2014/main" id="{65E624B7-03E2-480F-BCBD-EC590842DDA1}"/>
              </a:ext>
            </a:extLst>
          </p:cNvPr>
          <p:cNvSpPr/>
          <p:nvPr/>
        </p:nvSpPr>
        <p:spPr>
          <a:xfrm>
            <a:off x="10111741" y="4571438"/>
            <a:ext cx="1051560" cy="11704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F47C00"/>
            </a:solidFill>
            <a:prstDash val="solid"/>
          </a:ln>
        </p:spPr>
      </p:sp>
      <p:sp>
        <p:nvSpPr>
          <p:cNvPr id="60" name="Text 56">
            <a:extLst>
              <a:ext uri="{FF2B5EF4-FFF2-40B4-BE49-F238E27FC236}">
                <a16:creationId xmlns:a16="http://schemas.microsoft.com/office/drawing/2014/main" id="{AFB18841-20D4-4BDB-9BCB-6A30E69781D9}"/>
              </a:ext>
            </a:extLst>
          </p:cNvPr>
          <p:cNvSpPr/>
          <p:nvPr/>
        </p:nvSpPr>
        <p:spPr>
          <a:xfrm>
            <a:off x="10203181" y="4662878"/>
            <a:ext cx="86868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47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2013–2017</a:t>
            </a:r>
            <a:endParaRPr lang="en-US" sz="1200" dirty="0"/>
          </a:p>
        </p:txBody>
      </p:sp>
      <p:sp>
        <p:nvSpPr>
          <p:cNvPr id="61" name="Text 57">
            <a:extLst>
              <a:ext uri="{FF2B5EF4-FFF2-40B4-BE49-F238E27FC236}">
                <a16:creationId xmlns:a16="http://schemas.microsoft.com/office/drawing/2014/main" id="{9EB78DFA-9C79-41BA-9C8E-C90BD8E2F4D2}"/>
              </a:ext>
            </a:extLst>
          </p:cNvPr>
          <p:cNvSpPr/>
          <p:nvPr/>
        </p:nvSpPr>
        <p:spPr>
          <a:xfrm>
            <a:off x="10184893" y="4900622"/>
            <a:ext cx="896112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Harvey/Birznieks/Srivastava</a:t>
            </a:r>
            <a:endParaRPr lang="en-US" sz="900" dirty="0"/>
          </a:p>
        </p:txBody>
      </p:sp>
      <p:sp>
        <p:nvSpPr>
          <p:cNvPr id="62" name="Text 58">
            <a:extLst>
              <a:ext uri="{FF2B5EF4-FFF2-40B4-BE49-F238E27FC236}">
                <a16:creationId xmlns:a16="http://schemas.microsoft.com/office/drawing/2014/main" id="{3A01A534-A229-42DD-A901-A0CC980F282B}"/>
              </a:ext>
            </a:extLst>
          </p:cNvPr>
          <p:cNvSpPr/>
          <p:nvPr/>
        </p:nvSpPr>
        <p:spPr>
          <a:xfrm>
            <a:off x="10184893" y="5248094"/>
            <a:ext cx="914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多路复用、知觉相关、因果操纵</a:t>
            </a:r>
            <a:endParaRPr lang="en-US" sz="105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5DD3BA6-2891-48D2-9212-E1ADB010C2CC}"/>
              </a:ext>
            </a:extLst>
          </p:cNvPr>
          <p:cNvSpPr txBox="1"/>
          <p:nvPr/>
        </p:nvSpPr>
        <p:spPr>
          <a:xfrm>
            <a:off x="175261" y="176229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不全面的时间线梳理：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D2200D-054D-45AD-8E63-8AAFD4BCCB33}"/>
              </a:ext>
            </a:extLst>
          </p:cNvPr>
          <p:cNvSpPr/>
          <p:nvPr/>
        </p:nvSpPr>
        <p:spPr>
          <a:xfrm>
            <a:off x="609598" y="6101420"/>
            <a:ext cx="10606946" cy="6182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5657AF0-85F4-45C2-BEDD-4E3F5C758548}"/>
              </a:ext>
            </a:extLst>
          </p:cNvPr>
          <p:cNvSpPr txBox="1"/>
          <p:nvPr/>
        </p:nvSpPr>
        <p:spPr>
          <a:xfrm>
            <a:off x="729997" y="6242217"/>
            <a:ext cx="101713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❗注意：接下来讲的生物学“小故事”可能有不严谨的地方，欢迎批评指正🤗</a:t>
            </a:r>
          </a:p>
        </p:txBody>
      </p:sp>
    </p:spTree>
    <p:extLst>
      <p:ext uri="{BB962C8B-B14F-4D97-AF65-F5344CB8AC3E}">
        <p14:creationId xmlns:p14="http://schemas.microsoft.com/office/powerpoint/2010/main" val="74504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-134162" y="1113901"/>
            <a:ext cx="6230160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故事一：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刺激越强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脉冲越密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？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🤔</a:t>
            </a:r>
            <a:endParaRPr lang="en-US" altLang="zh-CN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C7A222-F61E-46B3-8170-8544242E7697}"/>
              </a:ext>
            </a:extLst>
          </p:cNvPr>
          <p:cNvSpPr txBox="1"/>
          <p:nvPr/>
        </p:nvSpPr>
        <p:spPr>
          <a:xfrm>
            <a:off x="44555" y="1673267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E. D. Adrian &amp; Y. </a:t>
            </a:r>
            <a:r>
              <a:rPr lang="en-US" altLang="zh-CN" sz="1200" b="0" i="0" dirty="0" err="1">
                <a:effectLst/>
                <a:latin typeface="-apple-system"/>
              </a:rPr>
              <a:t>Zotterman</a:t>
            </a:r>
            <a:r>
              <a:rPr lang="en-US" altLang="zh-CN" sz="1200" b="0" i="0" dirty="0">
                <a:effectLst/>
                <a:latin typeface="-apple-system"/>
              </a:rPr>
              <a:t> (1926), </a:t>
            </a:r>
            <a:r>
              <a:rPr lang="en-US" altLang="zh-CN" sz="1200" b="0" i="1" dirty="0">
                <a:effectLst/>
                <a:latin typeface="-apple-system"/>
              </a:rPr>
              <a:t>The impulses produced by sensory nerve-endings. Part II. The response of a Single End-Organ</a:t>
            </a:r>
            <a:endParaRPr lang="zh-CN" altLang="en-US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FF81827-53C3-4DE4-B54F-3BC0DD4094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2" y="2134932"/>
            <a:ext cx="4205493" cy="358172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E8C549F-E59C-4809-B0F9-8D8AF0DE691B}"/>
              </a:ext>
            </a:extLst>
          </p:cNvPr>
          <p:cNvSpPr txBox="1"/>
          <p:nvPr/>
        </p:nvSpPr>
        <p:spPr>
          <a:xfrm>
            <a:off x="7832214" y="1732766"/>
            <a:ext cx="43057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+mj-ea"/>
                <a:ea typeface="+mj-ea"/>
              </a:rPr>
              <a:t>一个感觉末梢及其神经纤维分离出来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+mj-ea"/>
                <a:ea typeface="+mj-ea"/>
              </a:rPr>
              <a:t>给与末梢相连的肌肉施加不同程度的牵拉，并把神经冲动放大、记录下来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+mj-ea"/>
              <a:ea typeface="+mj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B53FC1-4F72-4FB0-AD9C-B6A01A057101}"/>
              </a:ext>
            </a:extLst>
          </p:cNvPr>
          <p:cNvSpPr txBox="1"/>
          <p:nvPr/>
        </p:nvSpPr>
        <p:spPr>
          <a:xfrm>
            <a:off x="5177367" y="6292888"/>
            <a:ext cx="646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实验强有力地证明了</a:t>
            </a:r>
            <a:r>
              <a:rPr lang="en-US" altLang="zh-CN" b="0" i="0" dirty="0">
                <a:effectLst/>
                <a:latin typeface="-apple-system"/>
              </a:rPr>
              <a:t>: </a:t>
            </a:r>
            <a:r>
              <a:rPr lang="zh-CN" altLang="en-US" b="1" i="0" dirty="0">
                <a:effectLst/>
                <a:highlight>
                  <a:srgbClr val="FFFF00"/>
                </a:highlight>
                <a:latin typeface="-apple-system"/>
              </a:rPr>
              <a:t>感觉强度</a:t>
            </a:r>
            <a:r>
              <a:rPr lang="zh-CN" altLang="en-US" b="1" i="0">
                <a:effectLst/>
                <a:latin typeface="-apple-system"/>
              </a:rPr>
              <a:t>与</a:t>
            </a:r>
            <a:r>
              <a:rPr lang="zh-CN" altLang="en-US" b="1" i="0">
                <a:effectLst/>
                <a:highlight>
                  <a:srgbClr val="FFFF00"/>
                </a:highlight>
                <a:latin typeface="-apple-system"/>
              </a:rPr>
              <a:t>发放速率</a:t>
            </a:r>
            <a:r>
              <a:rPr lang="zh-CN" altLang="en-US" b="1" i="0">
                <a:effectLst/>
                <a:latin typeface="-apple-system"/>
              </a:rPr>
              <a:t>之间</a:t>
            </a:r>
            <a:r>
              <a:rPr lang="zh-CN" altLang="en-US" b="1" i="0" dirty="0">
                <a:effectLst/>
                <a:latin typeface="-apple-system"/>
              </a:rPr>
              <a:t>存在正向关系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920AB0-5A29-4ACA-A80B-2F8B97DC4EC2}"/>
              </a:ext>
            </a:extLst>
          </p:cNvPr>
          <p:cNvSpPr txBox="1"/>
          <p:nvPr/>
        </p:nvSpPr>
        <p:spPr>
          <a:xfrm>
            <a:off x="7832214" y="3043509"/>
            <a:ext cx="43057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刺激增强以后，单个动作电位并没有按比例“长高”。一根神经纤维发出的动作电位要么产生一次幅度相近的</a:t>
            </a:r>
            <a:r>
              <a:rPr lang="zh-CN" altLang="en-US" sz="1600" dirty="0">
                <a:latin typeface="-apple-system"/>
              </a:rPr>
              <a:t>脉冲</a:t>
            </a:r>
            <a:r>
              <a:rPr lang="zh-CN" altLang="en-US" sz="1600" b="0" i="0" dirty="0">
                <a:effectLst/>
                <a:latin typeface="-apple-system"/>
              </a:rPr>
              <a:t>，要么不产生。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轻微牵拉时，记录笔偶尔跳一下；增加负荷后，单位时间内的跳动次数明显增多。持续刺激时，刚开始的放电往往最快，随后因适应而逐渐变慢，</a:t>
            </a:r>
            <a:r>
              <a:rPr lang="zh-CN" altLang="en-US" sz="1600" dirty="0"/>
              <a:t>即感觉适应</a:t>
            </a:r>
            <a:r>
              <a:rPr lang="zh-CN" altLang="en-US" sz="1600" b="0" i="0" dirty="0">
                <a:effectLst/>
                <a:latin typeface="-apple-system"/>
              </a:rPr>
              <a:t>。</a:t>
            </a:r>
            <a:endParaRPr lang="zh-CN" altLang="en-US" sz="1600" dirty="0">
              <a:latin typeface="+mj-ea"/>
              <a:ea typeface="+mj-ea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22D5D31-0491-4BAA-86A7-5ECBBB6933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18" y="1732766"/>
            <a:ext cx="3338519" cy="4281115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5A155C5-4748-474E-BD2B-1BE84EF30314}"/>
              </a:ext>
            </a:extLst>
          </p:cNvPr>
          <p:cNvSpPr/>
          <p:nvPr/>
        </p:nvSpPr>
        <p:spPr>
          <a:xfrm>
            <a:off x="5068994" y="6243104"/>
            <a:ext cx="6465993" cy="461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3F906D6-DC14-4BDD-A9B7-2CB60B7F9396}"/>
              </a:ext>
            </a:extLst>
          </p:cNvPr>
          <p:cNvSpPr txBox="1"/>
          <p:nvPr/>
        </p:nvSpPr>
        <p:spPr>
          <a:xfrm>
            <a:off x="82587" y="5716660"/>
            <a:ext cx="43130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埃德加</a:t>
            </a:r>
            <a:r>
              <a:rPr lang="en-US" altLang="zh-CN" sz="1100" dirty="0"/>
              <a:t>·</a:t>
            </a:r>
            <a:r>
              <a:rPr lang="zh-CN" altLang="en-US" sz="1100" dirty="0"/>
              <a:t>阿德里安（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Helvetica Neue"/>
              </a:rPr>
              <a:t>Edgar Adrian</a:t>
            </a:r>
            <a:r>
              <a:rPr lang="zh-CN" altLang="en-US" sz="1100" dirty="0"/>
              <a:t>），英国电生理学家。</a:t>
            </a:r>
            <a:r>
              <a:rPr lang="en-US" altLang="zh-CN" sz="1100" dirty="0"/>
              <a:t>1932</a:t>
            </a:r>
            <a:r>
              <a:rPr lang="zh-CN" altLang="en-US" sz="1100" dirty="0"/>
              <a:t>年因发现神经元功能机制与查尔斯</a:t>
            </a:r>
            <a:r>
              <a:rPr lang="en-US" altLang="zh-CN" sz="1100" dirty="0"/>
              <a:t>·</a:t>
            </a:r>
            <a:r>
              <a:rPr lang="zh-CN" altLang="en-US" sz="1100" dirty="0"/>
              <a:t>斯科特</a:t>
            </a:r>
            <a:r>
              <a:rPr lang="en-US" altLang="zh-CN" sz="1100" dirty="0"/>
              <a:t>·</a:t>
            </a:r>
            <a:r>
              <a:rPr lang="zh-CN" altLang="en-US" sz="1100" dirty="0"/>
              <a:t>谢灵顿共同获得诺贝尔生理学或医学奖。</a:t>
            </a:r>
            <a:endParaRPr lang="en-US" altLang="zh-CN" sz="1100" dirty="0"/>
          </a:p>
          <a:p>
            <a:r>
              <a:rPr lang="zh-CN" altLang="en-US" sz="1100" dirty="0"/>
              <a:t>通过青蛙实验揭示神经冲动传导频率变化规律及感觉冲动的适应性，发现丘脑与大脑区的不同反应机制。使用金属微电极方法记录单个神经元电脉冲，证实神经元作为大脑功能基本单位的学说。</a:t>
            </a:r>
          </a:p>
        </p:txBody>
      </p:sp>
    </p:spTree>
    <p:extLst>
      <p:ext uri="{BB962C8B-B14F-4D97-AF65-F5344CB8AC3E}">
        <p14:creationId xmlns:p14="http://schemas.microsoft.com/office/powerpoint/2010/main" val="256292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103293" y="1190165"/>
            <a:ext cx="5702439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rate coding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速率编码的实现方式</a:t>
            </a:r>
            <a:endParaRPr 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E86704-F77D-486A-A82A-E196407C7092}"/>
              </a:ext>
            </a:extLst>
          </p:cNvPr>
          <p:cNvSpPr txBox="1"/>
          <p:nvPr/>
        </p:nvSpPr>
        <p:spPr>
          <a:xfrm>
            <a:off x="165946" y="1853142"/>
            <a:ext cx="929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如果观察时间窗口长度为 </a:t>
            </a:r>
            <a:r>
              <a:rPr lang="en-US" altLang="zh-CN" dirty="0"/>
              <a:t>T</a:t>
            </a:r>
            <a:r>
              <a:rPr lang="zh-CN" altLang="en-US" dirty="0"/>
              <a:t>，其中一共发放 </a:t>
            </a:r>
            <a:r>
              <a:rPr lang="en-US" altLang="zh-CN" dirty="0"/>
              <a:t>N </a:t>
            </a:r>
            <a:r>
              <a:rPr lang="zh-CN" altLang="en-US" dirty="0"/>
              <a:t>个脉冲，定义脉冲发放速率（</a:t>
            </a:r>
            <a:r>
              <a:rPr lang="en-US" altLang="zh-CN" dirty="0"/>
              <a:t> firing rate </a:t>
            </a:r>
            <a:r>
              <a:rPr lang="zh-CN" altLang="en-US" dirty="0"/>
              <a:t>）：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BF4FFA-48EC-4708-A5D3-5D6091937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768" y="1736167"/>
            <a:ext cx="850944" cy="60328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77861C9-B47D-4D97-AA19-E29D700E460B}"/>
              </a:ext>
            </a:extLst>
          </p:cNvPr>
          <p:cNvSpPr txBox="1"/>
          <p:nvPr/>
        </p:nvSpPr>
        <p:spPr>
          <a:xfrm>
            <a:off x="165946" y="23520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怎样用速率表示输入 </a:t>
            </a:r>
            <a:r>
              <a:rPr lang="en-US" altLang="zh-CN" dirty="0"/>
              <a:t>x</a:t>
            </a:r>
            <a:r>
              <a:rPr lang="zh-CN" altLang="en-US" dirty="0"/>
              <a:t>？</a:t>
            </a: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B6DF7C10-4ECE-4E15-B19D-AEBF0D057DDF}"/>
              </a:ext>
            </a:extLst>
          </p:cNvPr>
          <p:cNvSpPr/>
          <p:nvPr/>
        </p:nvSpPr>
        <p:spPr>
          <a:xfrm>
            <a:off x="1147931" y="2894922"/>
            <a:ext cx="3829812" cy="248351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8C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同样表达 rate，随机性与效率不同</a:t>
            </a:r>
            <a:endParaRPr lang="en-US" sz="17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F3D3B34-73D6-4A1D-89E2-0D87E04F1536}"/>
              </a:ext>
            </a:extLst>
          </p:cNvPr>
          <p:cNvSpPr/>
          <p:nvPr/>
        </p:nvSpPr>
        <p:spPr>
          <a:xfrm>
            <a:off x="361652" y="3000521"/>
            <a:ext cx="914400" cy="0"/>
          </a:xfrm>
          <a:prstGeom prst="line">
            <a:avLst/>
          </a:prstGeom>
          <a:noFill/>
          <a:ln w="17780">
            <a:solidFill>
              <a:srgbClr val="F47C00"/>
            </a:solidFill>
            <a:prstDash val="solid"/>
          </a:ln>
        </p:spPr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CF165558-B12B-4715-BAB3-66D509D9B259}"/>
              </a:ext>
            </a:extLst>
          </p:cNvPr>
          <p:cNvSpPr/>
          <p:nvPr/>
        </p:nvSpPr>
        <p:spPr>
          <a:xfrm>
            <a:off x="297644" y="2954801"/>
            <a:ext cx="82296" cy="82296"/>
          </a:xfrm>
          <a:prstGeom prst="ellipse">
            <a:avLst/>
          </a:prstGeom>
          <a:solidFill>
            <a:srgbClr val="F47C00"/>
          </a:solidFill>
          <a:ln w="12700">
            <a:solidFill>
              <a:srgbClr val="F47C00"/>
            </a:solidFill>
            <a:prstDash val="solid"/>
          </a:ln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8657138C-5B5A-42E4-A4E9-9AF3C216EABF}"/>
              </a:ext>
            </a:extLst>
          </p:cNvPr>
          <p:cNvSpPr/>
          <p:nvPr/>
        </p:nvSpPr>
        <p:spPr>
          <a:xfrm>
            <a:off x="4891332" y="3001331"/>
            <a:ext cx="914400" cy="0"/>
          </a:xfrm>
          <a:prstGeom prst="line">
            <a:avLst/>
          </a:prstGeom>
          <a:noFill/>
          <a:ln w="17780">
            <a:solidFill>
              <a:srgbClr val="008C95"/>
            </a:solidFill>
            <a:prstDash val="solid"/>
          </a:ln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F158ED92-AE77-4BA0-961D-E9F1B47F51AA}"/>
              </a:ext>
            </a:extLst>
          </p:cNvPr>
          <p:cNvSpPr/>
          <p:nvPr/>
        </p:nvSpPr>
        <p:spPr>
          <a:xfrm>
            <a:off x="5805732" y="2955611"/>
            <a:ext cx="82296" cy="82296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41FFCE66-760D-4163-9E3A-8C3D8D84D762}"/>
              </a:ext>
            </a:extLst>
          </p:cNvPr>
          <p:cNvSpPr/>
          <p:nvPr/>
        </p:nvSpPr>
        <p:spPr>
          <a:xfrm>
            <a:off x="295273" y="3565165"/>
            <a:ext cx="5120640" cy="3032328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5240">
            <a:solidFill>
              <a:srgbClr val="0B66C3"/>
            </a:solidFill>
            <a:prstDash val="solid"/>
          </a:ln>
        </p:spPr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605E93DD-B7F3-4B52-9610-BA0149B49FAF}"/>
              </a:ext>
            </a:extLst>
          </p:cNvPr>
          <p:cNvSpPr/>
          <p:nvPr/>
        </p:nvSpPr>
        <p:spPr>
          <a:xfrm>
            <a:off x="405001" y="3418861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29427084-18C7-448E-9797-E32E3E0B7565}"/>
              </a:ext>
            </a:extLst>
          </p:cNvPr>
          <p:cNvSpPr/>
          <p:nvPr/>
        </p:nvSpPr>
        <p:spPr>
          <a:xfrm>
            <a:off x="478153" y="3464581"/>
            <a:ext cx="20116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泊松速率编码</a:t>
            </a:r>
            <a:endParaRPr lang="en-US" sz="14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15061A5F-CD2D-4E6C-9163-B1C1DBDF39DC}"/>
              </a:ext>
            </a:extLst>
          </p:cNvPr>
          <p:cNvSpPr/>
          <p:nvPr/>
        </p:nvSpPr>
        <p:spPr>
          <a:xfrm>
            <a:off x="475446" y="5910214"/>
            <a:ext cx="3937633" cy="7315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优点：更像某些神经记录中的变异。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局限：噪声大，短时间窗估计不稳定。</a:t>
            </a:r>
            <a:endParaRPr lang="en-US" sz="1600" dirty="0"/>
          </a:p>
        </p:txBody>
      </p:sp>
      <p:sp>
        <p:nvSpPr>
          <p:cNvPr id="46" name="Shape 28">
            <a:extLst>
              <a:ext uri="{FF2B5EF4-FFF2-40B4-BE49-F238E27FC236}">
                <a16:creationId xmlns:a16="http://schemas.microsoft.com/office/drawing/2014/main" id="{CCA68C25-5F33-438C-A7A9-9A0298512A68}"/>
              </a:ext>
            </a:extLst>
          </p:cNvPr>
          <p:cNvSpPr/>
          <p:nvPr/>
        </p:nvSpPr>
        <p:spPr>
          <a:xfrm>
            <a:off x="6096000" y="3565165"/>
            <a:ext cx="5120640" cy="3032329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5240">
            <a:solidFill>
              <a:srgbClr val="008C95"/>
            </a:solidFill>
            <a:prstDash val="solid"/>
          </a:ln>
        </p:spPr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107832DA-18E4-4B2D-96B2-D04EF3D58FC8}"/>
              </a:ext>
            </a:extLst>
          </p:cNvPr>
          <p:cNvSpPr/>
          <p:nvPr/>
        </p:nvSpPr>
        <p:spPr>
          <a:xfrm>
            <a:off x="6205728" y="3418861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8" name="Text 30">
            <a:extLst>
              <a:ext uri="{FF2B5EF4-FFF2-40B4-BE49-F238E27FC236}">
                <a16:creationId xmlns:a16="http://schemas.microsoft.com/office/drawing/2014/main" id="{62B5C47D-2D1D-4C7D-8598-5A460859E69A}"/>
              </a:ext>
            </a:extLst>
          </p:cNvPr>
          <p:cNvSpPr/>
          <p:nvPr/>
        </p:nvSpPr>
        <p:spPr>
          <a:xfrm>
            <a:off x="6278880" y="3464581"/>
            <a:ext cx="20116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确定性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速率</a:t>
            </a:r>
            <a:r>
              <a:rPr lang="en-US" sz="14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</a:t>
            </a:r>
            <a:endParaRPr lang="en-US" sz="1400" dirty="0"/>
          </a:p>
        </p:txBody>
      </p:sp>
      <p:sp>
        <p:nvSpPr>
          <p:cNvPr id="61" name="Text 43">
            <a:extLst>
              <a:ext uri="{FF2B5EF4-FFF2-40B4-BE49-F238E27FC236}">
                <a16:creationId xmlns:a16="http://schemas.microsoft.com/office/drawing/2014/main" id="{6FC97051-FD56-4F07-A9C1-8597DD2BD440}"/>
              </a:ext>
            </a:extLst>
          </p:cNvPr>
          <p:cNvSpPr/>
          <p:nvPr/>
        </p:nvSpPr>
        <p:spPr>
          <a:xfrm>
            <a:off x="6370320" y="5922730"/>
            <a:ext cx="4572000" cy="624245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优点：无随机采样噪声、可重复。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局限：更像工程近似，不像真实放电统计。</a:t>
            </a: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E58345D-2BB9-4ADE-91AA-441B57607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46" y="3893460"/>
            <a:ext cx="997001" cy="292115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F73D8AA7-04F4-4340-8F95-7306630DC425}"/>
              </a:ext>
            </a:extLst>
          </p:cNvPr>
          <p:cNvSpPr txBox="1"/>
          <p:nvPr/>
        </p:nvSpPr>
        <p:spPr>
          <a:xfrm>
            <a:off x="1567607" y="3893069"/>
            <a:ext cx="3318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个时间步的发放概率：</a:t>
            </a:r>
            <a:endParaRPr lang="zh-CN" altLang="en-US" dirty="0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A59C687-4B05-4D0F-9F8E-3BD6B3664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90" y="4379508"/>
            <a:ext cx="1975169" cy="281394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3FE576E1-5D8D-494D-AEEE-783C0E123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450" y="3948040"/>
            <a:ext cx="711237" cy="228612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7D3241CE-235E-47DF-ACC9-4A37B9A451AC}"/>
              </a:ext>
            </a:extLst>
          </p:cNvPr>
          <p:cNvSpPr txBox="1"/>
          <p:nvPr/>
        </p:nvSpPr>
        <p:spPr>
          <a:xfrm>
            <a:off x="448319" y="4330801"/>
            <a:ext cx="120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则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3C9BDD1-9E0E-4872-B94E-95EDC740122B}"/>
              </a:ext>
            </a:extLst>
          </p:cNvPr>
          <p:cNvSpPr txBox="1"/>
          <p:nvPr/>
        </p:nvSpPr>
        <p:spPr>
          <a:xfrm>
            <a:off x="418222" y="4757987"/>
            <a:ext cx="3937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即每个时间步做一次伯努利随机试验：</a:t>
            </a: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D96ACE16-90B2-4611-A8C5-E87A29894B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586" y="5091403"/>
            <a:ext cx="2154980" cy="683518"/>
          </a:xfrm>
          <a:prstGeom prst="rect">
            <a:avLst/>
          </a:prstGeom>
        </p:spPr>
      </p:pic>
      <p:sp>
        <p:nvSpPr>
          <p:cNvPr id="74" name="文本框 73">
            <a:extLst>
              <a:ext uri="{FF2B5EF4-FFF2-40B4-BE49-F238E27FC236}">
                <a16:creationId xmlns:a16="http://schemas.microsoft.com/office/drawing/2014/main" id="{99E20481-CD8A-4459-AEDE-E203F1D96FAD}"/>
              </a:ext>
            </a:extLst>
          </p:cNvPr>
          <p:cNvSpPr txBox="1"/>
          <p:nvPr/>
        </p:nvSpPr>
        <p:spPr>
          <a:xfrm>
            <a:off x="6303608" y="3893069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rate coding </a:t>
            </a:r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并不意味着一定随机。</a:t>
            </a:r>
            <a:endParaRPr lang="en-US" altLang="zh-CN" sz="1600" dirty="0">
              <a:solidFill>
                <a:srgbClr val="4D55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solidFill>
                <a:srgbClr val="4D55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例如输入：</a:t>
            </a:r>
            <a:r>
              <a:rPr lang="en-US" altLang="zh-CN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x=0.25</a:t>
            </a:r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，则发放速率为</a:t>
            </a:r>
            <a:r>
              <a:rPr lang="en-US" altLang="zh-CN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0.25</a:t>
            </a:r>
          </a:p>
          <a:p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可以规定：每 </a:t>
            </a:r>
            <a:r>
              <a:rPr lang="en-US" altLang="zh-CN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timestep </a:t>
            </a:r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发一个 </a:t>
            </a:r>
            <a:r>
              <a:rPr lang="en-US" altLang="zh-CN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</a:p>
          <a:p>
            <a:r>
              <a:rPr lang="zh-CN" alt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  <a:r>
              <a:rPr lang="en-US" altLang="zh-CN" sz="1600" dirty="0"/>
              <a:t>1 0 0 0 1 0 0 0 1 0 0 0 1 0 0 0 ……</a:t>
            </a:r>
            <a:endParaRPr lang="zh-CN" altLang="en-US" sz="1600" dirty="0">
              <a:solidFill>
                <a:srgbClr val="4D55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8624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103293" y="1014347"/>
            <a:ext cx="5118947" cy="678737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故事二：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谁先开第一枪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💥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F70E99-D303-49FC-9A75-A7A689FC3A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1799533"/>
            <a:ext cx="3107267" cy="37713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B90A62-1476-4C4F-9959-4B992948E5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472" y="2707431"/>
            <a:ext cx="3586161" cy="2615907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59DF737-9AFC-4805-8949-8FBC71AC1371}"/>
              </a:ext>
            </a:extLst>
          </p:cNvPr>
          <p:cNvSpPr txBox="1"/>
          <p:nvPr/>
        </p:nvSpPr>
        <p:spPr>
          <a:xfrm>
            <a:off x="7261664" y="2028696"/>
            <a:ext cx="477454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取出蝾螈视网膜，把它平放在多电极阵列上，每根电极监听附近的视网膜神经节细胞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屏幕</a:t>
            </a:r>
            <a:r>
              <a:rPr lang="zh-CN" altLang="en-US" sz="1600" dirty="0"/>
              <a:t>快速呈现不同条纹和自然图像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每次响应记下两个数字：</a:t>
            </a:r>
            <a:endParaRPr lang="en-US" altLang="zh-CN" sz="1600" b="0" i="0" dirty="0">
              <a:effectLst/>
              <a:latin typeface="-apple-system"/>
            </a:endParaRPr>
          </a:p>
          <a:p>
            <a:pPr lvl="1"/>
            <a:r>
              <a:rPr lang="zh-CN" altLang="en-US" sz="1600" b="0" i="0">
                <a:effectLst/>
                <a:latin typeface="-apple-system"/>
              </a:rPr>
              <a:t>这次刺激一共</a:t>
            </a:r>
            <a:r>
              <a:rPr lang="zh-CN" altLang="en-US" sz="1600" b="0" i="0" dirty="0">
                <a:effectLst/>
                <a:latin typeface="-apple-system"/>
              </a:rPr>
              <a:t>发了多少个脉冲</a:t>
            </a:r>
          </a:p>
          <a:p>
            <a:pPr lvl="1"/>
            <a:r>
              <a:rPr lang="zh-CN" altLang="en-US" sz="1600" b="0" i="0" dirty="0">
                <a:effectLst/>
                <a:latin typeface="-apple-system"/>
              </a:rPr>
              <a:t>刺激出现后，第一个脉冲过了多久才来</a:t>
            </a:r>
            <a:endParaRPr lang="en-US" altLang="zh-CN" sz="1600" dirty="0"/>
          </a:p>
          <a:p>
            <a:pPr marL="342900" indent="-342900">
              <a:buAutoNum type="arabicPeriod"/>
            </a:pPr>
            <a:endParaRPr lang="en-US" altLang="zh-CN" sz="1600" dirty="0"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C58CD8B-E46E-4B86-9D76-529E5C9F4773}"/>
              </a:ext>
            </a:extLst>
          </p:cNvPr>
          <p:cNvSpPr txBox="1"/>
          <p:nvPr/>
        </p:nvSpPr>
        <p:spPr>
          <a:xfrm>
            <a:off x="203201" y="5677335"/>
            <a:ext cx="3190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 err="1">
                <a:effectLst/>
                <a:latin typeface="-apple-system"/>
              </a:rPr>
              <a:t>Gollisch</a:t>
            </a:r>
            <a:r>
              <a:rPr lang="en-US" altLang="zh-CN" sz="1200" b="0" i="0" dirty="0">
                <a:effectLst/>
                <a:latin typeface="-apple-system"/>
              </a:rPr>
              <a:t> &amp; Meister (2008), </a:t>
            </a:r>
            <a:r>
              <a:rPr lang="en-US" altLang="zh-CN" sz="1200" b="0" i="1" dirty="0">
                <a:effectLst/>
                <a:latin typeface="-apple-system"/>
              </a:rPr>
              <a:t>Rapid Neural Coding in the Retina with Relative Spike Latencies</a:t>
            </a:r>
            <a:endParaRPr lang="zh-CN" alt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E3505-5D11-4E84-9988-69730E919AAC}"/>
              </a:ext>
            </a:extLst>
          </p:cNvPr>
          <p:cNvSpPr txBox="1"/>
          <p:nvPr/>
        </p:nvSpPr>
        <p:spPr>
          <a:xfrm>
            <a:off x="7261664" y="4335449"/>
            <a:ext cx="467972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dirty="0"/>
              <a:t>某些细胞面对不同图像时，脉冲数量差别不大</a:t>
            </a:r>
            <a:endParaRPr lang="en-US" altLang="zh-CN" sz="1600" dirty="0"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dirty="0"/>
              <a:t>但首次脉冲时间可以相差约 </a:t>
            </a:r>
            <a:r>
              <a:rPr lang="en-US" altLang="zh-CN" sz="1600" dirty="0"/>
              <a:t>40 </a:t>
            </a:r>
            <a:r>
              <a:rPr lang="en-US" altLang="zh-CN" sz="1600" dirty="0" err="1"/>
              <a:t>ms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同一刺激重复呈现时，首次脉冲抖动只有约 </a:t>
            </a:r>
            <a:r>
              <a:rPr lang="en-US" altLang="zh-CN" sz="1600" dirty="0"/>
              <a:t>3</a:t>
            </a:r>
            <a:r>
              <a:rPr lang="zh-CN" altLang="en-US" sz="1600" dirty="0"/>
              <a:t>～</a:t>
            </a:r>
            <a:r>
              <a:rPr lang="en-US" altLang="zh-CN" sz="1600" dirty="0"/>
              <a:t>5 </a:t>
            </a:r>
            <a:r>
              <a:rPr lang="en-US" altLang="zh-CN" sz="1600" dirty="0" err="1"/>
              <a:t>ms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只用首脉冲时间得到的“神经图像”仍能看出原图结构；用脉冲计数重建则更模糊。</a:t>
            </a:r>
            <a:endParaRPr lang="en-US" altLang="zh-CN" sz="1600" dirty="0"/>
          </a:p>
          <a:p>
            <a:pPr marL="342900" indent="-342900">
              <a:buAutoNum type="arabicPeriod"/>
            </a:pP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726830-D1E3-4CBA-85A1-99CDC1D2A93F}"/>
              </a:ext>
            </a:extLst>
          </p:cNvPr>
          <p:cNvSpPr txBox="1"/>
          <p:nvPr/>
        </p:nvSpPr>
        <p:spPr>
          <a:xfrm>
            <a:off x="203201" y="6139000"/>
            <a:ext cx="3107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Johansson &amp; </a:t>
            </a:r>
            <a:r>
              <a:rPr lang="en-US" altLang="zh-CN" sz="1200" b="0" i="0" dirty="0" err="1">
                <a:effectLst/>
                <a:latin typeface="-apple-system"/>
              </a:rPr>
              <a:t>Birznieks</a:t>
            </a:r>
            <a:r>
              <a:rPr lang="en-US" altLang="zh-CN" sz="1200" b="0" i="0" dirty="0">
                <a:effectLst/>
                <a:latin typeface="-apple-system"/>
              </a:rPr>
              <a:t> (2004), </a:t>
            </a:r>
            <a:r>
              <a:rPr lang="en-US" altLang="zh-CN" sz="1200" b="0" i="1" dirty="0">
                <a:effectLst/>
                <a:latin typeface="-apple-system"/>
              </a:rPr>
              <a:t>First spikes in ensembles of human tactile afferents code complex spatial fingertip events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960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F70E99-D303-49FC-9A75-A7A689FC3A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1799533"/>
            <a:ext cx="3107267" cy="3771353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59DF737-9AFC-4805-8949-8FBC71AC1371}"/>
              </a:ext>
            </a:extLst>
          </p:cNvPr>
          <p:cNvSpPr txBox="1"/>
          <p:nvPr/>
        </p:nvSpPr>
        <p:spPr>
          <a:xfrm>
            <a:off x="3549877" y="1846314"/>
            <a:ext cx="82763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把一根极细的电极插入受试者手臂的外周神经束中，找到一根来自指尖机械感受器的传入纤维，然后记录它的单个动作电位。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实验装置向指腹施加不同方向的力，或让不同曲面的物体接触皮肤，记录</a:t>
            </a:r>
            <a:r>
              <a:rPr lang="zh-CN" altLang="en-US" sz="1600" dirty="0"/>
              <a:t>脉冲</a:t>
            </a:r>
            <a:r>
              <a:rPr lang="zh-CN" altLang="en-US" sz="1600" b="0" i="0" dirty="0">
                <a:effectLst/>
                <a:latin typeface="-apple-system"/>
              </a:rPr>
              <a:t>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C58CD8B-E46E-4B86-9D76-529E5C9F4773}"/>
              </a:ext>
            </a:extLst>
          </p:cNvPr>
          <p:cNvSpPr txBox="1"/>
          <p:nvPr/>
        </p:nvSpPr>
        <p:spPr>
          <a:xfrm>
            <a:off x="203201" y="5677335"/>
            <a:ext cx="3190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 err="1">
                <a:effectLst/>
                <a:latin typeface="-apple-system"/>
              </a:rPr>
              <a:t>Gollisch</a:t>
            </a:r>
            <a:r>
              <a:rPr lang="en-US" altLang="zh-CN" sz="1200" b="0" i="0" dirty="0">
                <a:effectLst/>
                <a:latin typeface="-apple-system"/>
              </a:rPr>
              <a:t> &amp; Meister (2008), </a:t>
            </a:r>
            <a:r>
              <a:rPr lang="en-US" altLang="zh-CN" sz="1200" b="0" i="1" dirty="0">
                <a:effectLst/>
                <a:latin typeface="-apple-system"/>
              </a:rPr>
              <a:t>Rapid Neural Coding in the Retina with Relative Spike Latencies</a:t>
            </a:r>
            <a:endParaRPr lang="zh-CN" alt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E3505-5D11-4E84-9988-69730E919AAC}"/>
              </a:ext>
            </a:extLst>
          </p:cNvPr>
          <p:cNvSpPr txBox="1"/>
          <p:nvPr/>
        </p:nvSpPr>
        <p:spPr>
          <a:xfrm>
            <a:off x="3549877" y="3856113"/>
            <a:ext cx="82154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结果是可以。不同传入纤维对皮肤形变的敏感位置不同，因此某种接触会让 </a:t>
            </a:r>
            <a:r>
              <a:rPr lang="en-US" altLang="zh-CN" sz="1600" b="0" i="0" dirty="0">
                <a:effectLst/>
                <a:latin typeface="-apple-system"/>
              </a:rPr>
              <a:t>A </a:t>
            </a:r>
            <a:r>
              <a:rPr lang="zh-CN" altLang="en-US" sz="1600" b="0" i="0" dirty="0">
                <a:effectLst/>
                <a:latin typeface="-apple-system"/>
              </a:rPr>
              <a:t>纤维先报到、</a:t>
            </a:r>
            <a:r>
              <a:rPr lang="en-US" altLang="zh-CN" sz="1600" b="0" i="0" dirty="0">
                <a:effectLst/>
                <a:latin typeface="-apple-system"/>
              </a:rPr>
              <a:t>B </a:t>
            </a:r>
            <a:r>
              <a:rPr lang="zh-CN" altLang="en-US" sz="1600" b="0" i="0" dirty="0">
                <a:effectLst/>
                <a:latin typeface="-apple-system"/>
              </a:rPr>
              <a:t>随后、</a:t>
            </a:r>
            <a:r>
              <a:rPr lang="en-US" altLang="zh-CN" sz="1600" b="0" i="0" dirty="0">
                <a:effectLst/>
                <a:latin typeface="-apple-system"/>
              </a:rPr>
              <a:t>C </a:t>
            </a:r>
            <a:r>
              <a:rPr lang="zh-CN" altLang="en-US" sz="1600" b="0" i="0" dirty="0">
                <a:effectLst/>
                <a:latin typeface="-apple-system"/>
              </a:rPr>
              <a:t>更晚；换一种方向或曲率，报到顺序会改变。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这很符合真实抓握的时间压力：杯子开始滑落时，神经系统不能先等半秒钟收集稳定均值，再决定是否增加握力。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726830-D1E3-4CBA-85A1-99CDC1D2A93F}"/>
              </a:ext>
            </a:extLst>
          </p:cNvPr>
          <p:cNvSpPr txBox="1"/>
          <p:nvPr/>
        </p:nvSpPr>
        <p:spPr>
          <a:xfrm>
            <a:off x="203201" y="6139000"/>
            <a:ext cx="3107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Johansson &amp; </a:t>
            </a:r>
            <a:r>
              <a:rPr lang="en-US" altLang="zh-CN" sz="1200" b="0" i="0" dirty="0" err="1">
                <a:effectLst/>
                <a:latin typeface="-apple-system"/>
              </a:rPr>
              <a:t>Birznieks</a:t>
            </a:r>
            <a:r>
              <a:rPr lang="en-US" altLang="zh-CN" sz="1200" b="0" i="0" dirty="0">
                <a:effectLst/>
                <a:latin typeface="-apple-system"/>
              </a:rPr>
              <a:t> (2004), </a:t>
            </a:r>
            <a:r>
              <a:rPr lang="en-US" altLang="zh-CN" sz="1200" b="0" i="1" dirty="0">
                <a:effectLst/>
                <a:latin typeface="-apple-system"/>
              </a:rPr>
              <a:t>First spikes in ensembles of human tactile afferents code complex spatial fingertip events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118B50-E61C-4FFE-AB2F-761B56D284D5}"/>
              </a:ext>
            </a:extLst>
          </p:cNvPr>
          <p:cNvSpPr txBox="1"/>
          <p:nvPr/>
        </p:nvSpPr>
        <p:spPr>
          <a:xfrm>
            <a:off x="3549877" y="3177378"/>
            <a:ext cx="8445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-apple-system"/>
              </a:rPr>
              <a:t>关键问题是：如果只保留每根纤维的第一枚脉冲，还能否判断物体的受力方向和形状？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C70D3F-B483-4296-B095-962768EE03FF}"/>
              </a:ext>
            </a:extLst>
          </p:cNvPr>
          <p:cNvSpPr txBox="1"/>
          <p:nvPr/>
        </p:nvSpPr>
        <p:spPr>
          <a:xfrm>
            <a:off x="4183381" y="5569517"/>
            <a:ext cx="4908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信息不只是“谁发得多”，还在于“</a:t>
            </a:r>
            <a:r>
              <a:rPr lang="zh-CN" altLang="en-US" b="0" i="0" dirty="0">
                <a:effectLst/>
                <a:highlight>
                  <a:srgbClr val="FFFF00"/>
                </a:highlight>
                <a:latin typeface="-apple-system"/>
              </a:rPr>
              <a:t>谁先发</a:t>
            </a:r>
            <a:r>
              <a:rPr lang="zh-CN" altLang="en-US" b="0" i="0" dirty="0">
                <a:effectLst/>
                <a:latin typeface="-apple-system"/>
              </a:rPr>
              <a:t>”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DA99AF1-472A-450A-AEEC-2D03961FFFB6}"/>
              </a:ext>
            </a:extLst>
          </p:cNvPr>
          <p:cNvSpPr/>
          <p:nvPr/>
        </p:nvSpPr>
        <p:spPr>
          <a:xfrm>
            <a:off x="4075008" y="5519733"/>
            <a:ext cx="4806526" cy="461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83E69E-B05E-4E93-AA88-518395C81B3F}"/>
              </a:ext>
            </a:extLst>
          </p:cNvPr>
          <p:cNvSpPr txBox="1"/>
          <p:nvPr/>
        </p:nvSpPr>
        <p:spPr>
          <a:xfrm>
            <a:off x="4183381" y="6196183"/>
            <a:ext cx="6497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时间编码无需等待很长的计数窗口，</a:t>
            </a:r>
            <a:r>
              <a:rPr lang="zh-CN" altLang="en-US" b="0" i="0" dirty="0">
                <a:effectLst/>
                <a:highlight>
                  <a:srgbClr val="FFFF00"/>
                </a:highlight>
                <a:latin typeface="-apple-system"/>
              </a:rPr>
              <a:t>第一轮脉冲</a:t>
            </a:r>
            <a:r>
              <a:rPr lang="zh-CN" altLang="en-US" b="0" i="0" dirty="0">
                <a:effectLst/>
                <a:latin typeface="-apple-system"/>
              </a:rPr>
              <a:t>就能携带信息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B68FFD-9939-4DC9-83F3-3DCF637FCC00}"/>
              </a:ext>
            </a:extLst>
          </p:cNvPr>
          <p:cNvSpPr/>
          <p:nvPr/>
        </p:nvSpPr>
        <p:spPr>
          <a:xfrm>
            <a:off x="4075008" y="6146399"/>
            <a:ext cx="6748356" cy="461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6A177087-4509-4DC5-B49C-5B366AE46FDA}"/>
              </a:ext>
            </a:extLst>
          </p:cNvPr>
          <p:cNvSpPr/>
          <p:nvPr/>
        </p:nvSpPr>
        <p:spPr>
          <a:xfrm>
            <a:off x="103293" y="1014347"/>
            <a:ext cx="5118947" cy="678737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故事三：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谁先开第一枪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💥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101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103292" y="1190165"/>
            <a:ext cx="8546255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时间编码的实现方式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：延迟编码 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atency coding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41FFCE66-760D-4163-9E3A-8C3D8D84D762}"/>
              </a:ext>
            </a:extLst>
          </p:cNvPr>
          <p:cNvSpPr/>
          <p:nvPr/>
        </p:nvSpPr>
        <p:spPr>
          <a:xfrm>
            <a:off x="356233" y="3419856"/>
            <a:ext cx="5120640" cy="3284912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5240">
            <a:solidFill>
              <a:srgbClr val="0B66C3"/>
            </a:solidFill>
            <a:prstDash val="solid"/>
          </a:ln>
        </p:spPr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605E93DD-B7F3-4B52-9610-BA0149B49FAF}"/>
              </a:ext>
            </a:extLst>
          </p:cNvPr>
          <p:cNvSpPr/>
          <p:nvPr/>
        </p:nvSpPr>
        <p:spPr>
          <a:xfrm>
            <a:off x="465961" y="3273552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29427084-18C7-448E-9797-E32E3E0B7565}"/>
              </a:ext>
            </a:extLst>
          </p:cNvPr>
          <p:cNvSpPr/>
          <p:nvPr/>
        </p:nvSpPr>
        <p:spPr>
          <a:xfrm>
            <a:off x="539113" y="3319272"/>
            <a:ext cx="20116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线性映射</a:t>
            </a:r>
            <a:endParaRPr lang="en-US" sz="1400" dirty="0"/>
          </a:p>
        </p:txBody>
      </p:sp>
      <p:sp>
        <p:nvSpPr>
          <p:cNvPr id="46" name="Shape 28">
            <a:extLst>
              <a:ext uri="{FF2B5EF4-FFF2-40B4-BE49-F238E27FC236}">
                <a16:creationId xmlns:a16="http://schemas.microsoft.com/office/drawing/2014/main" id="{CCA68C25-5F33-438C-A7A9-9A0298512A68}"/>
              </a:ext>
            </a:extLst>
          </p:cNvPr>
          <p:cNvSpPr/>
          <p:nvPr/>
        </p:nvSpPr>
        <p:spPr>
          <a:xfrm>
            <a:off x="6156960" y="3419856"/>
            <a:ext cx="5120640" cy="3284913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5240">
            <a:solidFill>
              <a:srgbClr val="008C95"/>
            </a:solidFill>
            <a:prstDash val="solid"/>
          </a:ln>
        </p:spPr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107832DA-18E4-4B2D-96B2-D04EF3D58FC8}"/>
              </a:ext>
            </a:extLst>
          </p:cNvPr>
          <p:cNvSpPr/>
          <p:nvPr/>
        </p:nvSpPr>
        <p:spPr>
          <a:xfrm>
            <a:off x="6266688" y="3273552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8" name="Text 30">
            <a:extLst>
              <a:ext uri="{FF2B5EF4-FFF2-40B4-BE49-F238E27FC236}">
                <a16:creationId xmlns:a16="http://schemas.microsoft.com/office/drawing/2014/main" id="{62B5C47D-2D1D-4C7D-8598-5A460859E69A}"/>
              </a:ext>
            </a:extLst>
          </p:cNvPr>
          <p:cNvSpPr/>
          <p:nvPr/>
        </p:nvSpPr>
        <p:spPr>
          <a:xfrm>
            <a:off x="6339840" y="3319272"/>
            <a:ext cx="20116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对数映射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C3F6E-2F4B-42D3-A11F-A64FCA8FE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33" y="1783413"/>
            <a:ext cx="1126462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用“第一个脉冲什么时候出现”来表示输入强度。通常输入越大，脉冲越早出现；输入越小，脉冲越晚出现。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因此它也经常被称为 Time-to-First-Spike, TTFS 编码。</a:t>
            </a:r>
            <a:endParaRPr kumimoji="0" lang="en-US" altLang="zh-CN" sz="1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最常见的映射有两类：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线性映射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对数映射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B8EDF27-C4CA-4DFA-BD30-CBB58D79C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3" y="3747759"/>
            <a:ext cx="3619714" cy="254596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206363C-7F74-4B09-AC2D-67456F105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917" y="5887056"/>
            <a:ext cx="3029208" cy="40497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91DF1B4-2250-4762-98AA-548D4726B8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0" y="3715113"/>
            <a:ext cx="4771813" cy="34189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4B3E1EC-7D47-4849-A718-97FA6BB0459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50" y="4157587"/>
            <a:ext cx="3618993" cy="245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0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-136124" y="1014358"/>
            <a:ext cx="9440991" cy="656151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时间编码的实现方式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rank-order coding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顺序编码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C3F6E-2F4B-42D3-A11F-A64FCA8FE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3" y="1674439"/>
            <a:ext cx="99307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Latency </a:t>
            </a:r>
            <a:r>
              <a:rPr lang="zh-CN" altLang="en-US" dirty="0"/>
              <a:t>编码携带的信息</a:t>
            </a:r>
            <a:r>
              <a:rPr lang="en-US" altLang="zh-CN" dirty="0"/>
              <a:t>=</a:t>
            </a:r>
            <a:r>
              <a:rPr lang="zh-CN" altLang="en-US" dirty="0"/>
              <a:t>绝对发放时间，但是大脑可能不关心精确时间，而只关心谁先谁后？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Rank-order </a:t>
            </a:r>
            <a:r>
              <a:rPr lang="zh-CN" altLang="en-US" dirty="0"/>
              <a:t>不保留具体时间，只保留发放顺序：</a:t>
            </a:r>
            <a:endParaRPr kumimoji="0" lang="en-US" altLang="zh-CN" sz="1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532023-6CDE-46F3-85C3-09F7F99B4166}"/>
              </a:ext>
            </a:extLst>
          </p:cNvPr>
          <p:cNvSpPr txBox="1"/>
          <p:nvPr/>
        </p:nvSpPr>
        <p:spPr>
          <a:xfrm>
            <a:off x="4584371" y="4255713"/>
            <a:ext cx="75144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它有没有被完全证明？</a:t>
            </a:r>
          </a:p>
          <a:p>
            <a:r>
              <a:rPr lang="zh-CN" altLang="en-US" dirty="0"/>
              <a:t>还没有完全证明大脑只读取顺序、彻底忽略精确时间。</a:t>
            </a:r>
          </a:p>
          <a:p>
            <a:r>
              <a:rPr lang="zh-CN" altLang="en-US" dirty="0"/>
              <a:t>真实下游神经元更可能通过以下机制自然读取顺序：</a:t>
            </a:r>
          </a:p>
          <a:p>
            <a:pPr lvl="1">
              <a:buFont typeface="+mj-lt"/>
              <a:buAutoNum type="arabicPeriod"/>
            </a:pPr>
            <a:r>
              <a:rPr lang="zh-CN" altLang="en-US" dirty="0"/>
              <a:t>第一个到达的脉冲先推动膜电位上升； </a:t>
            </a:r>
          </a:p>
          <a:p>
            <a:pPr lvl="1">
              <a:buFont typeface="+mj-lt"/>
              <a:buAutoNum type="arabicPeriod"/>
            </a:pPr>
            <a:r>
              <a:rPr lang="zh-CN" altLang="en-US" dirty="0"/>
              <a:t>后续脉冲在不同膜电位状态下到达； </a:t>
            </a:r>
          </a:p>
          <a:p>
            <a:pPr lvl="1">
              <a:buFont typeface="+mj-lt"/>
              <a:buAutoNum type="arabicPeriod"/>
            </a:pPr>
            <a:r>
              <a:rPr lang="zh-CN" altLang="en-US" dirty="0"/>
              <a:t>突触可塑性和不应期使不同顺序产生不同结果。 </a:t>
            </a:r>
          </a:p>
          <a:p>
            <a:r>
              <a:rPr lang="zh-CN" altLang="en-US" dirty="0"/>
              <a:t>所以生物证据支持“相对发放顺序包含有用信息”，但纯粹只保留 </a:t>
            </a:r>
            <a:r>
              <a:rPr lang="en-US" altLang="zh-CN" dirty="0"/>
              <a:t>rank </a:t>
            </a:r>
            <a:r>
              <a:rPr lang="zh-CN" altLang="en-US" dirty="0"/>
              <a:t>的算法仍是工程抽象。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0190DBF-39A9-477E-9CD9-951375F5E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29" y="2363798"/>
            <a:ext cx="1482465" cy="16646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FD803EF-0472-41EC-95B4-53A6471880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450" y="2363797"/>
            <a:ext cx="2151997" cy="166463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45ED800-D1D3-43C3-92A9-DBF710D72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867" y="2208864"/>
            <a:ext cx="1294577" cy="181956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9B44660-B4E6-4AAF-97E5-8FCE238F3712}"/>
              </a:ext>
            </a:extLst>
          </p:cNvPr>
          <p:cNvSpPr txBox="1"/>
          <p:nvPr/>
        </p:nvSpPr>
        <p:spPr>
          <a:xfrm>
            <a:off x="0" y="2368918"/>
            <a:ext cx="961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Latency: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9B1BB30-3DF0-43B8-AB41-D0C8B9ECB7BC}"/>
              </a:ext>
            </a:extLst>
          </p:cNvPr>
          <p:cNvSpPr txBox="1"/>
          <p:nvPr/>
        </p:nvSpPr>
        <p:spPr>
          <a:xfrm>
            <a:off x="5791369" y="2310977"/>
            <a:ext cx="616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Rank-order:</a:t>
            </a:r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75E97D5-8DFE-46E1-8168-DC64C84FD3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332" y="2845716"/>
            <a:ext cx="1822544" cy="1022403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9C17FE7B-D5B5-406A-A24C-B435E11AA13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40" y="4119751"/>
            <a:ext cx="4171960" cy="250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12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103293" y="1014347"/>
            <a:ext cx="5423747" cy="678737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故事四：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信息写在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“相位”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</a:t>
            </a:r>
            <a:endParaRPr lang="en-US" sz="28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9DF737-9AFC-4805-8949-8FBC71AC1371}"/>
              </a:ext>
            </a:extLst>
          </p:cNvPr>
          <p:cNvSpPr txBox="1"/>
          <p:nvPr/>
        </p:nvSpPr>
        <p:spPr>
          <a:xfrm>
            <a:off x="5153691" y="1741646"/>
            <a:ext cx="70383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r>
              <a:rPr lang="zh-CN" altLang="en-US" sz="1600" b="0" i="0" dirty="0">
                <a:effectLst/>
                <a:latin typeface="-apple-system"/>
              </a:rPr>
              <a:t>在松鼠猴的单根听觉神经纤维上记录响应，并向耳朵播放低频纯音。纯音像规则起伏的波浪，每个周期都经过峰、谷和零点。电极同时记录两种信号</a:t>
            </a:r>
            <a:r>
              <a:rPr lang="zh-CN" altLang="en-US" sz="1600" dirty="0">
                <a:latin typeface="-apple-system"/>
              </a:rPr>
              <a:t>。</a:t>
            </a:r>
            <a:endParaRPr lang="en-US" altLang="zh-CN" sz="1600" dirty="0">
              <a:latin typeface="-apple-system"/>
            </a:endParaRPr>
          </a:p>
          <a:p>
            <a:pPr marL="342900" indent="-342900">
              <a:buAutoNum type="arabicPeriod"/>
            </a:pPr>
            <a:endParaRPr lang="zh-CN" altLang="en-US" sz="1600" b="0" i="0" dirty="0">
              <a:effectLst/>
              <a:latin typeface="-apple-system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C58CD8B-E46E-4B86-9D76-529E5C9F4773}"/>
              </a:ext>
            </a:extLst>
          </p:cNvPr>
          <p:cNvSpPr txBox="1"/>
          <p:nvPr/>
        </p:nvSpPr>
        <p:spPr>
          <a:xfrm>
            <a:off x="215552" y="5843654"/>
            <a:ext cx="4938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Rose, </a:t>
            </a:r>
            <a:r>
              <a:rPr lang="en-US" altLang="zh-CN" sz="1200" b="0" i="0" dirty="0" err="1">
                <a:effectLst/>
                <a:latin typeface="-apple-system"/>
              </a:rPr>
              <a:t>Brugge</a:t>
            </a:r>
            <a:r>
              <a:rPr lang="en-US" altLang="zh-CN" sz="1200" b="0" i="0" dirty="0">
                <a:effectLst/>
                <a:latin typeface="-apple-system"/>
              </a:rPr>
              <a:t>, Anderson &amp; Hind (1967), </a:t>
            </a:r>
            <a:r>
              <a:rPr lang="en-US" altLang="zh-CN" sz="1200" b="0" i="1" dirty="0">
                <a:effectLst/>
                <a:latin typeface="-apple-system"/>
              </a:rPr>
              <a:t>Phase-locked response to low-frequency tones in single auditory nerve fibers of the squirrel monkey</a:t>
            </a:r>
            <a:endParaRPr lang="zh-CN" alt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E3505-5D11-4E84-9988-69730E919AAC}"/>
              </a:ext>
            </a:extLst>
          </p:cNvPr>
          <p:cNvSpPr txBox="1"/>
          <p:nvPr/>
        </p:nvSpPr>
        <p:spPr>
          <a:xfrm>
            <a:off x="5153691" y="2674135"/>
            <a:ext cx="6822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zh-CN" altLang="en-US" sz="1600" b="0" i="0" dirty="0">
                <a:effectLst/>
                <a:latin typeface="-apple-system"/>
              </a:rPr>
              <a:t>脉冲不会均匀散落在 </a:t>
            </a:r>
            <a:r>
              <a:rPr lang="en-US" altLang="zh-CN" sz="1600" b="0" i="0" dirty="0">
                <a:effectLst/>
                <a:latin typeface="-apple-system"/>
              </a:rPr>
              <a:t>0° </a:t>
            </a:r>
            <a:r>
              <a:rPr lang="zh-CN" altLang="en-US" sz="1600" b="0" i="0" dirty="0">
                <a:effectLst/>
                <a:latin typeface="-apple-system"/>
              </a:rPr>
              <a:t>到 </a:t>
            </a:r>
            <a:r>
              <a:rPr lang="en-US" altLang="zh-CN" sz="1600" b="0" i="0" dirty="0">
                <a:effectLst/>
                <a:latin typeface="-apple-system"/>
              </a:rPr>
              <a:t>360° </a:t>
            </a:r>
            <a:r>
              <a:rPr lang="zh-CN" altLang="en-US" sz="1600" b="0" i="0" dirty="0">
                <a:effectLst/>
                <a:latin typeface="-apple-system"/>
              </a:rPr>
              <a:t>之间，而是偏爱周期中的某一小段</a:t>
            </a:r>
            <a:r>
              <a:rPr lang="en-US" altLang="zh-CN" sz="1600" b="0" i="0" dirty="0">
                <a:effectLst/>
                <a:latin typeface="-apple-system"/>
              </a:rPr>
              <a:t>——</a:t>
            </a:r>
            <a:r>
              <a:rPr lang="zh-CN" altLang="en-US" sz="1600" b="0" i="0" dirty="0">
                <a:effectLst/>
                <a:latin typeface="-apple-system"/>
              </a:rPr>
              <a:t>它们与声波相位锁定。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726830-D1E3-4CBA-85A1-99CDC1D2A93F}"/>
              </a:ext>
            </a:extLst>
          </p:cNvPr>
          <p:cNvSpPr txBox="1"/>
          <p:nvPr/>
        </p:nvSpPr>
        <p:spPr>
          <a:xfrm>
            <a:off x="215552" y="6345301"/>
            <a:ext cx="4938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O’Keefe &amp; Recce (1993), </a:t>
            </a:r>
            <a:r>
              <a:rPr lang="en-US" altLang="zh-CN" sz="1200" b="0" i="1" dirty="0">
                <a:effectLst/>
                <a:latin typeface="-apple-system"/>
              </a:rPr>
              <a:t>Phase relationship between hippocampal place units and the EEG theta rhythm</a:t>
            </a:r>
            <a:endParaRPr lang="zh-CN" altLang="en-US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CB93F8-1D86-44D1-936F-B9FB79CB4C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52" y="1693084"/>
            <a:ext cx="4770914" cy="40394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ED80325-08E1-4727-B2F1-592DD72B57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018" y="3505132"/>
            <a:ext cx="4826408" cy="246004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DD61A9D-3ABC-4344-8301-A22930B63A14}"/>
              </a:ext>
            </a:extLst>
          </p:cNvPr>
          <p:cNvSpPr txBox="1"/>
          <p:nvPr/>
        </p:nvSpPr>
        <p:spPr>
          <a:xfrm>
            <a:off x="6096000" y="6128874"/>
            <a:ext cx="4642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这为听觉系统利用时间结构表示音高、周期等信息提供了直接生理证据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CC2605-D3FB-4B6B-B9DE-4C8515FCAAAE}"/>
              </a:ext>
            </a:extLst>
          </p:cNvPr>
          <p:cNvSpPr/>
          <p:nvPr/>
        </p:nvSpPr>
        <p:spPr>
          <a:xfrm>
            <a:off x="5987627" y="6079090"/>
            <a:ext cx="4806526" cy="6961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1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9DF737-9AFC-4805-8949-8FBC71AC1371}"/>
              </a:ext>
            </a:extLst>
          </p:cNvPr>
          <p:cNvSpPr txBox="1"/>
          <p:nvPr/>
        </p:nvSpPr>
        <p:spPr>
          <a:xfrm>
            <a:off x="5098725" y="2268301"/>
            <a:ext cx="688252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r>
              <a:rPr lang="zh-CN" altLang="en-US" sz="1600" b="0" i="0" dirty="0">
                <a:effectLst/>
                <a:latin typeface="-apple-system"/>
              </a:rPr>
              <a:t>给大鼠植入轻量电极，让它在一条直线轨道上来回奔跑</a:t>
            </a:r>
            <a:r>
              <a:rPr lang="zh-CN" altLang="en-US" sz="1600" dirty="0">
                <a:latin typeface="-apple-system"/>
              </a:rPr>
              <a:t>。</a:t>
            </a:r>
            <a:r>
              <a:rPr lang="zh-CN" altLang="en-US" sz="1600" b="0" i="0" dirty="0">
                <a:effectLst/>
                <a:latin typeface="-apple-system"/>
              </a:rPr>
              <a:t>电极同时记录两种信号</a:t>
            </a:r>
            <a:r>
              <a:rPr lang="zh-CN" altLang="en-US" sz="1600" b="0" i="0" dirty="0">
                <a:effectLst/>
                <a:latin typeface="-apple-system"/>
                <a:sym typeface="Wingdings" panose="05000000000000000000" pitchFamily="2" charset="2"/>
              </a:rPr>
              <a:t>：（</a:t>
            </a:r>
            <a:r>
              <a:rPr lang="en-US" altLang="zh-CN" sz="1600" b="0" i="0" dirty="0">
                <a:effectLst/>
                <a:latin typeface="-apple-system"/>
                <a:sym typeface="Wingdings" panose="05000000000000000000" pitchFamily="2" charset="2"/>
              </a:rPr>
              <a:t>1</a:t>
            </a:r>
            <a:r>
              <a:rPr lang="zh-CN" altLang="en-US" sz="1600" b="0" i="0" dirty="0">
                <a:effectLst/>
                <a:latin typeface="-apple-system"/>
                <a:sym typeface="Wingdings" panose="05000000000000000000" pitchFamily="2" charset="2"/>
              </a:rPr>
              <a:t>）</a:t>
            </a:r>
            <a:r>
              <a:rPr lang="zh-CN" altLang="en-US" sz="1600" b="0" i="0" dirty="0">
                <a:effectLst/>
                <a:latin typeface="-apple-system"/>
              </a:rPr>
              <a:t>海马体位置细胞的脉冲。</a:t>
            </a:r>
            <a:r>
              <a:rPr lang="zh-CN" altLang="en-US" sz="1600" dirty="0"/>
              <a:t>海马</a:t>
            </a:r>
            <a:r>
              <a:rPr lang="zh-CN" altLang="en-US" sz="1600" b="0" i="0" dirty="0">
                <a:effectLst/>
                <a:latin typeface="-apple-system"/>
              </a:rPr>
              <a:t>体</a:t>
            </a:r>
            <a:r>
              <a:rPr lang="zh-CN" altLang="en-US" sz="1600" dirty="0"/>
              <a:t>中的某些神经元只在大鼠经过环境中的特定区域（</a:t>
            </a:r>
            <a:r>
              <a:rPr lang="en-US" altLang="zh-CN" sz="1600" dirty="0"/>
              <a:t> place field </a:t>
            </a:r>
            <a:r>
              <a:rPr lang="zh-CN" altLang="en-US" sz="1600" dirty="0"/>
              <a:t>）时大量发放，这些神经元叫作位置细胞，也就是 </a:t>
            </a:r>
            <a:r>
              <a:rPr lang="en-US" altLang="zh-CN" sz="1600" dirty="0"/>
              <a:t>place cell </a:t>
            </a:r>
            <a:r>
              <a:rPr lang="zh-CN" altLang="en-US" sz="1600" b="0" i="0" dirty="0">
                <a:effectLst/>
                <a:latin typeface="-apple-system"/>
              </a:rPr>
              <a:t>（</a:t>
            </a:r>
            <a:r>
              <a:rPr lang="en-US" altLang="zh-CN" sz="1600" b="0" i="0" dirty="0">
                <a:effectLst/>
                <a:latin typeface="-apple-system"/>
              </a:rPr>
              <a:t>2</a:t>
            </a:r>
            <a:r>
              <a:rPr lang="zh-CN" altLang="en-US" sz="1600" b="0" i="0" dirty="0">
                <a:effectLst/>
                <a:latin typeface="-apple-system"/>
              </a:rPr>
              <a:t>）海马体局部场电位中的 </a:t>
            </a:r>
            <a:r>
              <a:rPr lang="en-US" altLang="zh-CN" sz="1600" b="0" i="0" dirty="0">
                <a:effectLst/>
                <a:latin typeface="-apple-system"/>
              </a:rPr>
              <a:t>theta </a:t>
            </a:r>
            <a:r>
              <a:rPr lang="zh-CN" altLang="en-US" sz="1600" b="0" i="0" dirty="0">
                <a:effectLst/>
                <a:latin typeface="-apple-system"/>
              </a:rPr>
              <a:t>节律，约 </a:t>
            </a:r>
            <a:r>
              <a:rPr lang="en-US" altLang="zh-CN" sz="1600" b="0" i="0" dirty="0">
                <a:effectLst/>
                <a:latin typeface="-apple-system"/>
              </a:rPr>
              <a:t>7–12 Hz</a:t>
            </a:r>
            <a:r>
              <a:rPr lang="zh-CN" altLang="en-US" sz="1600" b="0" i="0" dirty="0">
                <a:effectLst/>
                <a:latin typeface="-apple-system"/>
              </a:rPr>
              <a:t>，可把它想成脑内反复转动的钟表。</a:t>
            </a:r>
            <a:r>
              <a:rPr lang="zh-CN" altLang="en-US" sz="1600" dirty="0"/>
              <a:t>假设 </a:t>
            </a:r>
            <a:r>
              <a:rPr lang="en-US" altLang="zh-CN" sz="1600" dirty="0"/>
              <a:t>theta </a:t>
            </a:r>
            <a:r>
              <a:rPr lang="zh-CN" altLang="en-US" sz="1600" dirty="0"/>
              <a:t>频率为：</a:t>
            </a:r>
            <a:r>
              <a:rPr lang="en-US" altLang="zh-CN" sz="1600" dirty="0"/>
              <a:t>8Hz</a:t>
            </a:r>
            <a:r>
              <a:rPr lang="zh-CN" altLang="en-US" sz="1600" dirty="0"/>
              <a:t>，那么一个周期的长度是：</a:t>
            </a:r>
            <a:r>
              <a:rPr lang="en-US" altLang="zh-CN" sz="1600" dirty="0"/>
              <a:t>1/8=0.125s</a:t>
            </a:r>
            <a:r>
              <a:rPr lang="zh-CN" altLang="en-US" sz="1600" dirty="0"/>
              <a:t>，也就是说</a:t>
            </a:r>
            <a:r>
              <a:rPr lang="zh-CN" altLang="en-US" sz="1600"/>
              <a:t>，海马</a:t>
            </a:r>
            <a:r>
              <a:rPr lang="zh-CN" altLang="en-US" sz="1600" b="0" i="0">
                <a:effectLst/>
                <a:latin typeface="-apple-system"/>
              </a:rPr>
              <a:t>体</a:t>
            </a:r>
            <a:r>
              <a:rPr lang="zh-CN" altLang="en-US" sz="1600"/>
              <a:t>网络</a:t>
            </a:r>
            <a:r>
              <a:rPr lang="zh-CN" altLang="en-US" sz="1600" dirty="0"/>
              <a:t>大约每 </a:t>
            </a:r>
            <a:r>
              <a:rPr lang="en-US" altLang="zh-CN" sz="1600" dirty="0"/>
              <a:t>125 </a:t>
            </a:r>
            <a:r>
              <a:rPr lang="en-US" altLang="zh-CN" sz="1600" dirty="0" err="1"/>
              <a:t>ms</a:t>
            </a:r>
            <a:r>
              <a:rPr lang="en-US" altLang="zh-CN" sz="1600" dirty="0"/>
              <a:t> </a:t>
            </a:r>
            <a:r>
              <a:rPr lang="zh-CN" altLang="en-US" sz="1600" dirty="0"/>
              <a:t>完成一轮节律。</a:t>
            </a:r>
            <a:endParaRPr lang="zh-CN" altLang="en-US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C58CD8B-E46E-4B86-9D76-529E5C9F4773}"/>
              </a:ext>
            </a:extLst>
          </p:cNvPr>
          <p:cNvSpPr txBox="1"/>
          <p:nvPr/>
        </p:nvSpPr>
        <p:spPr>
          <a:xfrm>
            <a:off x="215552" y="5843654"/>
            <a:ext cx="4938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Rose, </a:t>
            </a:r>
            <a:r>
              <a:rPr lang="en-US" altLang="zh-CN" sz="1200" b="0" i="0" dirty="0" err="1">
                <a:effectLst/>
                <a:latin typeface="-apple-system"/>
              </a:rPr>
              <a:t>Brugge</a:t>
            </a:r>
            <a:r>
              <a:rPr lang="en-US" altLang="zh-CN" sz="1200" b="0" i="0" dirty="0">
                <a:effectLst/>
                <a:latin typeface="-apple-system"/>
              </a:rPr>
              <a:t>, Anderson &amp; Hind (1967), </a:t>
            </a:r>
            <a:r>
              <a:rPr lang="en-US" altLang="zh-CN" sz="1200" b="0" i="1" dirty="0">
                <a:effectLst/>
                <a:latin typeface="-apple-system"/>
              </a:rPr>
              <a:t>Phase-locked response to low-frequency tones in single auditory nerve fibers of the squirrel monkey</a:t>
            </a:r>
            <a:endParaRPr lang="zh-CN" alt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E3505-5D11-4E84-9988-69730E919AAC}"/>
              </a:ext>
            </a:extLst>
          </p:cNvPr>
          <p:cNvSpPr txBox="1"/>
          <p:nvPr/>
        </p:nvSpPr>
        <p:spPr>
          <a:xfrm>
            <a:off x="5098725" y="4385940"/>
            <a:ext cx="682275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某个位置细胞只在大鼠经过轨道的一小段区域时活跃，这块区域叫 </a:t>
            </a:r>
            <a:r>
              <a:rPr lang="en-US" altLang="zh-CN" sz="1600" b="0" i="0" dirty="0">
                <a:effectLst/>
                <a:latin typeface="-apple-system"/>
              </a:rPr>
              <a:t>place field</a:t>
            </a:r>
            <a:r>
              <a:rPr lang="zh-CN" altLang="en-US" sz="1600" b="0" i="0" dirty="0">
                <a:effectLst/>
                <a:latin typeface="-apple-system"/>
              </a:rPr>
              <a:t>。按传统速率观点，大鼠越接近场中心，细胞发得越快；离开中心后又变慢。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但把每个脉冲标到 </a:t>
            </a:r>
            <a:r>
              <a:rPr lang="en-US" altLang="zh-CN" sz="1600" b="0" i="0" dirty="0">
                <a:effectLst/>
                <a:latin typeface="-apple-system"/>
              </a:rPr>
              <a:t>theta“</a:t>
            </a:r>
            <a:r>
              <a:rPr lang="zh-CN" altLang="en-US" sz="1600" b="0" i="0" dirty="0">
                <a:effectLst/>
                <a:latin typeface="-apple-system"/>
              </a:rPr>
              <a:t>钟面”上后，出现了更奇特的规律：大鼠刚进入 </a:t>
            </a:r>
            <a:r>
              <a:rPr lang="en-US" altLang="zh-CN" sz="1600" b="0" i="0" dirty="0">
                <a:effectLst/>
                <a:latin typeface="-apple-system"/>
              </a:rPr>
              <a:t>place field </a:t>
            </a:r>
            <a:r>
              <a:rPr lang="zh-CN" altLang="en-US" sz="1600" b="0" i="0" dirty="0">
                <a:effectLst/>
                <a:latin typeface="-apple-system"/>
              </a:rPr>
              <a:t>时，脉冲落在 </a:t>
            </a:r>
            <a:r>
              <a:rPr lang="en-US" altLang="zh-CN" sz="1600" b="0" i="0" dirty="0">
                <a:effectLst/>
                <a:latin typeface="-apple-system"/>
              </a:rPr>
              <a:t>theta </a:t>
            </a:r>
            <a:r>
              <a:rPr lang="zh-CN" altLang="en-US" sz="1600" b="0" i="0" dirty="0">
                <a:effectLst/>
                <a:latin typeface="-apple-system"/>
              </a:rPr>
              <a:t>的较晚相位；继续向前跑，下一簇尖峰提前一些；再往前，又提前一些。到离开 </a:t>
            </a:r>
            <a:r>
              <a:rPr lang="en-US" altLang="zh-CN" sz="1600" b="0" i="0" dirty="0">
                <a:effectLst/>
                <a:latin typeface="-apple-system"/>
              </a:rPr>
              <a:t>place field </a:t>
            </a:r>
            <a:r>
              <a:rPr lang="zh-CN" altLang="en-US" sz="1600" b="0" i="0" dirty="0">
                <a:effectLst/>
                <a:latin typeface="-apple-system"/>
              </a:rPr>
              <a:t>时，相位可能推进了接近完整一周。这就是 </a:t>
            </a:r>
            <a:r>
              <a:rPr lang="en-US" altLang="zh-CN" sz="1600" b="1" i="0" dirty="0">
                <a:effectLst/>
                <a:latin typeface="-apple-system"/>
              </a:rPr>
              <a:t>theta phase precession</a:t>
            </a:r>
            <a:r>
              <a:rPr lang="zh-CN" altLang="en-US" sz="1600" b="1" i="0" dirty="0">
                <a:effectLst/>
                <a:latin typeface="-apple-system"/>
              </a:rPr>
              <a:t>（</a:t>
            </a:r>
            <a:r>
              <a:rPr lang="en-US" altLang="zh-CN" sz="1600" b="1" i="0" dirty="0">
                <a:effectLst/>
                <a:latin typeface="-apple-system"/>
              </a:rPr>
              <a:t>theta </a:t>
            </a:r>
            <a:r>
              <a:rPr lang="zh-CN" altLang="en-US" sz="1600" b="1" i="0" dirty="0">
                <a:effectLst/>
                <a:latin typeface="-apple-system"/>
              </a:rPr>
              <a:t>相位进动）</a:t>
            </a:r>
            <a:r>
              <a:rPr lang="zh-CN" altLang="en-US" sz="1600" b="0" i="0" dirty="0">
                <a:effectLst/>
                <a:latin typeface="-apple-system"/>
              </a:rPr>
              <a:t>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726830-D1E3-4CBA-85A1-99CDC1D2A93F}"/>
              </a:ext>
            </a:extLst>
          </p:cNvPr>
          <p:cNvSpPr txBox="1"/>
          <p:nvPr/>
        </p:nvSpPr>
        <p:spPr>
          <a:xfrm>
            <a:off x="215552" y="6345301"/>
            <a:ext cx="4938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O’Keefe &amp; Recce (1993), </a:t>
            </a:r>
            <a:r>
              <a:rPr lang="en-US" altLang="zh-CN" sz="1200" b="0" i="1" dirty="0">
                <a:effectLst/>
                <a:latin typeface="-apple-system"/>
              </a:rPr>
              <a:t>Phase relationship between hippocampal place units and the EEG theta rhythm</a:t>
            </a:r>
            <a:endParaRPr lang="zh-CN" altLang="en-US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CB93F8-1D86-44D1-936F-B9FB79CB4C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52" y="1693084"/>
            <a:ext cx="4770914" cy="403949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CA61F93-76AC-4776-AAF5-0389D1C830D0}"/>
              </a:ext>
            </a:extLst>
          </p:cNvPr>
          <p:cNvSpPr txBox="1"/>
          <p:nvPr/>
        </p:nvSpPr>
        <p:spPr>
          <a:xfrm>
            <a:off x="5098725" y="17700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相位参考不一定来自外界，也可能来自大脑自己的振荡。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9852DC08-2BA4-48F3-99E8-CF6997A041C2}"/>
              </a:ext>
            </a:extLst>
          </p:cNvPr>
          <p:cNvSpPr/>
          <p:nvPr/>
        </p:nvSpPr>
        <p:spPr>
          <a:xfrm>
            <a:off x="103293" y="1014347"/>
            <a:ext cx="5423747" cy="678737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故事五：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信息写在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“相位”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4342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103293" y="1014347"/>
            <a:ext cx="8659707" cy="678737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temporal coding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时间编码：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信息写在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“相位”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</a:t>
            </a:r>
            <a:endParaRPr 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B3EADF-ADBD-48E8-AB8F-F201E30F34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" y="2707431"/>
            <a:ext cx="4975618" cy="295764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349FF4B-8186-4DE1-8526-65B00BB4A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037" y="1875464"/>
            <a:ext cx="6995183" cy="474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36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-217404" y="1067118"/>
            <a:ext cx="8839857" cy="656151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时间编码的实现方式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coding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相位编码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C3F6E-2F4B-42D3-A11F-A64FCA8FE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848" y="1776039"/>
            <a:ext cx="11700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相位编码不是主要看“发了多少脉冲”，也不是只看“第一个脉冲多早出现”，而是看脉冲相对于一个周期性参考信号，出现在周期中的什么位置。</a:t>
            </a:r>
            <a:endParaRPr kumimoji="0" lang="en-US" altLang="zh-CN" sz="1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E61646-CA9B-4A08-B3CE-81FE269E2BE6}"/>
              </a:ext>
            </a:extLst>
          </p:cNvPr>
          <p:cNvSpPr txBox="1"/>
          <p:nvPr/>
        </p:nvSpPr>
        <p:spPr>
          <a:xfrm>
            <a:off x="245848" y="2558888"/>
            <a:ext cx="6204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假设我们人为规定一个参考周期：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A57095-FAA9-4A93-A8B1-BDD542D00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357" y="2558888"/>
            <a:ext cx="1257365" cy="4318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9B0D1BC-460A-4F40-9717-3189819F2C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63" y="3001181"/>
            <a:ext cx="5619858" cy="17176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1775121-4CDC-4045-97AE-59FC2543EA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342" y="4857314"/>
            <a:ext cx="3930852" cy="33656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FA7E311-D454-4236-B929-6C618818B7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00" y="4857315"/>
            <a:ext cx="1148718" cy="33656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3A95CB5-8C83-4F98-AB00-76616B39A8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219" y="3053200"/>
            <a:ext cx="3039220" cy="133964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302829A3-3CF2-4D1A-AF13-6082FB248D37}"/>
              </a:ext>
            </a:extLst>
          </p:cNvPr>
          <p:cNvSpPr txBox="1"/>
          <p:nvPr/>
        </p:nvSpPr>
        <p:spPr>
          <a:xfrm>
            <a:off x="6284029" y="2558888"/>
            <a:ext cx="6204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举个例子：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97FDDD8-7F0D-415D-AA04-536999E87C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219" y="4537143"/>
            <a:ext cx="5434681" cy="1926147"/>
          </a:xfrm>
          <a:prstGeom prst="rect">
            <a:avLst/>
          </a:prstGeom>
        </p:spPr>
      </p:pic>
      <p:sp>
        <p:nvSpPr>
          <p:cNvPr id="28" name="Text 26">
            <a:extLst>
              <a:ext uri="{FF2B5EF4-FFF2-40B4-BE49-F238E27FC236}">
                <a16:creationId xmlns:a16="http://schemas.microsoft.com/office/drawing/2014/main" id="{4E5C3AED-AE67-4291-9F61-E659552CDD79}"/>
              </a:ext>
            </a:extLst>
          </p:cNvPr>
          <p:cNvSpPr/>
          <p:nvPr/>
        </p:nvSpPr>
        <p:spPr>
          <a:xfrm>
            <a:off x="293263" y="5398026"/>
            <a:ext cx="4746164" cy="83343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相位能表达“处在周期的哪里”。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与速率互补：同样 rate 可对应不同 phase。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适合周期信号、空间导航与节律活动。</a:t>
            </a:r>
            <a:endParaRPr lang="en-US" sz="16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B5C6E1D-642B-43F2-8FE8-3A0B7BD9741E}"/>
              </a:ext>
            </a:extLst>
          </p:cNvPr>
          <p:cNvSpPr/>
          <p:nvPr/>
        </p:nvSpPr>
        <p:spPr>
          <a:xfrm>
            <a:off x="293263" y="6297604"/>
            <a:ext cx="1997817" cy="441860"/>
          </a:xfrm>
          <a:prstGeom prst="roundRect">
            <a:avLst>
              <a:gd name="adj" fmla="val 17778"/>
            </a:avLst>
          </a:prstGeom>
          <a:solidFill>
            <a:srgbClr val="ECFFF3"/>
          </a:solidFill>
          <a:ln w="12700">
            <a:solidFill>
              <a:srgbClr val="1D9A50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386B02A-A614-4DEA-A717-187F2B954F78}"/>
              </a:ext>
            </a:extLst>
          </p:cNvPr>
          <p:cNvSpPr/>
          <p:nvPr/>
        </p:nvSpPr>
        <p:spPr>
          <a:xfrm>
            <a:off x="453214" y="6436294"/>
            <a:ext cx="64008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D9A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</a:t>
            </a:r>
            <a:endParaRPr lang="en-US" sz="13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B1E5CE4-9FAA-4FA4-A51C-95E097BA334C}"/>
              </a:ext>
            </a:extLst>
          </p:cNvPr>
          <p:cNvSpPr/>
          <p:nvPr/>
        </p:nvSpPr>
        <p:spPr>
          <a:xfrm>
            <a:off x="1071666" y="6436294"/>
            <a:ext cx="132588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时间信息丰富</a:t>
            </a:r>
            <a:endParaRPr lang="en-US" sz="12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63FAD56-8F7F-419D-BCCC-32BC28244631}"/>
              </a:ext>
            </a:extLst>
          </p:cNvPr>
          <p:cNvSpPr/>
          <p:nvPr/>
        </p:nvSpPr>
        <p:spPr>
          <a:xfrm>
            <a:off x="2899441" y="6297604"/>
            <a:ext cx="3013679" cy="441860"/>
          </a:xfrm>
          <a:prstGeom prst="roundRect">
            <a:avLst>
              <a:gd name="adj" fmla="val 14545"/>
            </a:avLst>
          </a:prstGeom>
          <a:solidFill>
            <a:srgbClr val="FFF6EA"/>
          </a:solidFill>
          <a:ln w="12700">
            <a:solidFill>
              <a:srgbClr val="F47C00"/>
            </a:solidFill>
            <a:prstDash val="solid"/>
          </a:ln>
        </p:spPr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3866884F-C226-4503-8408-698C3834CE4B}"/>
              </a:ext>
            </a:extLst>
          </p:cNvPr>
          <p:cNvSpPr/>
          <p:nvPr/>
        </p:nvSpPr>
        <p:spPr>
          <a:xfrm>
            <a:off x="3036463" y="6427094"/>
            <a:ext cx="64008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47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局限</a:t>
            </a:r>
            <a:endParaRPr lang="en-US" sz="13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CB187627-8BAB-472E-9B67-5188979608E9}"/>
              </a:ext>
            </a:extLst>
          </p:cNvPr>
          <p:cNvSpPr/>
          <p:nvPr/>
        </p:nvSpPr>
        <p:spPr>
          <a:xfrm>
            <a:off x="3503962" y="6372230"/>
            <a:ext cx="2409158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D55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需要参考振荡；跨任务通用性有限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27893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103293" y="1014347"/>
            <a:ext cx="6968067" cy="678737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故事六：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两簇脉冲之间“安静了多久”？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9DF737-9AFC-4805-8949-8FBC71AC1371}"/>
              </a:ext>
            </a:extLst>
          </p:cNvPr>
          <p:cNvSpPr txBox="1"/>
          <p:nvPr/>
        </p:nvSpPr>
        <p:spPr>
          <a:xfrm>
            <a:off x="7214253" y="1693084"/>
            <a:ext cx="48744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r>
              <a:rPr lang="zh-CN" altLang="en-US" sz="1600" b="0" i="0" dirty="0">
                <a:effectLst/>
                <a:latin typeface="-apple-system"/>
              </a:rPr>
              <a:t>给人的指尖施加一串精心设计的机械脉冲。每个机械脉冲可让外周触觉传入纤维产生一簇神经放电。</a:t>
            </a:r>
            <a:endParaRPr lang="en-US" altLang="zh-CN" sz="1600" b="0" i="0" dirty="0">
              <a:effectLst/>
              <a:latin typeface="-apple-system"/>
            </a:endParaRPr>
          </a:p>
          <a:p>
            <a:r>
              <a:rPr lang="zh-CN" altLang="en-US" sz="1600" b="0" i="0" dirty="0">
                <a:effectLst/>
                <a:latin typeface="-apple-system"/>
              </a:rPr>
              <a:t>研究者有意改变脉冲簇内部的结构、每簇脉冲数、整体平均速率，以及两簇之间的沉默间隔，然后让受试者报告感觉到的振动频率。</a:t>
            </a:r>
          </a:p>
          <a:p>
            <a:pPr marL="342900" indent="-342900">
              <a:buAutoNum type="arabicPeriod"/>
            </a:pPr>
            <a:endParaRPr lang="en-US" altLang="zh-CN" sz="1600" dirty="0">
              <a:latin typeface="+mj-ea"/>
              <a:ea typeface="+mj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E3505-5D11-4E84-9988-69730E919AAC}"/>
              </a:ext>
            </a:extLst>
          </p:cNvPr>
          <p:cNvSpPr txBox="1"/>
          <p:nvPr/>
        </p:nvSpPr>
        <p:spPr>
          <a:xfrm>
            <a:off x="7209160" y="3508966"/>
            <a:ext cx="48744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直觉上，人们也许会按总脉冲数判断震动频率：单位时间脉冲越多，感觉越快。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但结果指向一个更局部的线索：知觉频率主要由相邻脉冲簇之间较长的</a:t>
            </a:r>
            <a:r>
              <a:rPr lang="zh-CN" altLang="en-US" sz="1600" b="1" i="0" dirty="0">
                <a:effectLst/>
                <a:latin typeface="-apple-system"/>
              </a:rPr>
              <a:t>沉默空隙</a:t>
            </a:r>
            <a:r>
              <a:rPr lang="zh-CN" altLang="en-US" sz="1600" b="0" i="0" dirty="0">
                <a:effectLst/>
                <a:latin typeface="-apple-system"/>
              </a:rPr>
              <a:t>决定。即使平均 </a:t>
            </a:r>
            <a:r>
              <a:rPr lang="en-US" altLang="zh-CN" sz="1600" b="0" i="0" dirty="0">
                <a:effectLst/>
                <a:latin typeface="-apple-system"/>
              </a:rPr>
              <a:t>firing rate</a:t>
            </a:r>
            <a:r>
              <a:rPr lang="zh-CN" altLang="en-US" sz="1600" b="0" i="0" dirty="0">
                <a:effectLst/>
                <a:latin typeface="-apple-system"/>
              </a:rPr>
              <a:t>、每簇脉冲数或其他种群因素被控制，改变这个 </a:t>
            </a:r>
            <a:r>
              <a:rPr lang="en-US" altLang="zh-CN" sz="1600" b="0" i="0" dirty="0">
                <a:effectLst/>
                <a:latin typeface="-apple-system"/>
              </a:rPr>
              <a:t>gap </a:t>
            </a:r>
            <a:r>
              <a:rPr lang="zh-CN" altLang="en-US" sz="1600" b="0" i="0" dirty="0">
                <a:effectLst/>
                <a:latin typeface="-apple-system"/>
              </a:rPr>
              <a:t>仍会系统改变受试者的频率判断。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726830-D1E3-4CBA-85A1-99CDC1D2A93F}"/>
              </a:ext>
            </a:extLst>
          </p:cNvPr>
          <p:cNvSpPr txBox="1"/>
          <p:nvPr/>
        </p:nvSpPr>
        <p:spPr>
          <a:xfrm>
            <a:off x="105747" y="4775251"/>
            <a:ext cx="4038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 err="1">
                <a:effectLst/>
                <a:latin typeface="-apple-system"/>
              </a:rPr>
              <a:t>Birznieks</a:t>
            </a:r>
            <a:r>
              <a:rPr lang="en-US" altLang="zh-CN" sz="1200" b="0" i="0" dirty="0">
                <a:effectLst/>
                <a:latin typeface="-apple-system"/>
              </a:rPr>
              <a:t> &amp; Vickery (2017), </a:t>
            </a:r>
            <a:r>
              <a:rPr lang="en-US" altLang="zh-CN" sz="1200" b="0" i="1" dirty="0">
                <a:effectLst/>
                <a:latin typeface="-apple-system"/>
              </a:rPr>
              <a:t>Spike Timing Matters in Novel Neuronal Code Involved in Vibrotactile Frequency Perception</a:t>
            </a:r>
            <a:endParaRPr lang="zh-CN" alt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4131B0-E468-47B6-A585-84306E73A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848" y="1693084"/>
            <a:ext cx="2627818" cy="407676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0CF0E3A-2C84-4E6E-9B91-53F2C74D0D1A}"/>
              </a:ext>
            </a:extLst>
          </p:cNvPr>
          <p:cNvSpPr txBox="1"/>
          <p:nvPr/>
        </p:nvSpPr>
        <p:spPr>
          <a:xfrm>
            <a:off x="5838611" y="6120651"/>
            <a:ext cx="5646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人类感觉系统似乎真的在读取脉冲序列中的</a:t>
            </a:r>
            <a:r>
              <a:rPr lang="zh-CN" altLang="en-US" dirty="0">
                <a:highlight>
                  <a:srgbClr val="FFFF00"/>
                </a:highlight>
              </a:rPr>
              <a:t>静默间隔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39B8F63-F5A4-4B0F-8729-1A757C78F8F8}"/>
              </a:ext>
            </a:extLst>
          </p:cNvPr>
          <p:cNvSpPr/>
          <p:nvPr/>
        </p:nvSpPr>
        <p:spPr>
          <a:xfrm>
            <a:off x="5655732" y="5957260"/>
            <a:ext cx="5829799" cy="6961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EA2AC2-99F3-472B-B70C-D911260447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27" y="2360155"/>
            <a:ext cx="3909780" cy="213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42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235113" y="934078"/>
            <a:ext cx="12097831" cy="11268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时间编码的实现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nn-NO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Inter-Spike Interval Coding, ISI Coding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脉冲间隔编码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46EFA4-C390-4262-80A8-5AAE61E69FFB}"/>
              </a:ext>
            </a:extLst>
          </p:cNvPr>
          <p:cNvSpPr txBox="1"/>
          <p:nvPr/>
        </p:nvSpPr>
        <p:spPr>
          <a:xfrm>
            <a:off x="235113" y="2013513"/>
            <a:ext cx="7631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工程论文里，纯 </a:t>
            </a:r>
            <a:r>
              <a:rPr lang="en-US" altLang="zh-CN" dirty="0"/>
              <a:t>ISI coding </a:t>
            </a:r>
            <a:r>
              <a:rPr lang="zh-CN" altLang="en-US" dirty="0"/>
              <a:t>其实并不常见</a:t>
            </a:r>
            <a:endParaRPr lang="en-US" altLang="zh-CN" dirty="0"/>
          </a:p>
          <a:p>
            <a:r>
              <a:rPr lang="en-US" altLang="zh-CN" dirty="0"/>
              <a:t>ISI coding </a:t>
            </a:r>
            <a:r>
              <a:rPr lang="zh-CN" altLang="en-US" dirty="0"/>
              <a:t>天然更适合“时间信号”，而不是像 </a:t>
            </a:r>
            <a:r>
              <a:rPr lang="en-US" altLang="zh-CN" dirty="0"/>
              <a:t>MNIST </a:t>
            </a:r>
            <a:r>
              <a:rPr lang="zh-CN" altLang="en-US" dirty="0"/>
              <a:t>这种静态像素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0008EB-2E91-44EE-8DD7-A9581EE02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3" y="2848716"/>
            <a:ext cx="2214360" cy="375528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2C2B6D-7A25-434C-9EA5-B4EF2D11AF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038" y="2848716"/>
            <a:ext cx="4207248" cy="35249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7F012E3-187B-4557-B8A3-63B8C3967D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996" y="2848716"/>
            <a:ext cx="4445863" cy="375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08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0" y="1098832"/>
            <a:ext cx="10219268" cy="474279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故事七：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什么时候发生与发生了多强，被装在同一个 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burst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9DF737-9AFC-4805-8949-8FBC71AC1371}"/>
              </a:ext>
            </a:extLst>
          </p:cNvPr>
          <p:cNvSpPr txBox="1"/>
          <p:nvPr/>
        </p:nvSpPr>
        <p:spPr>
          <a:xfrm>
            <a:off x="3880855" y="2298194"/>
            <a:ext cx="79680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在活体蚱蜢的听觉感受器神经元上记录放电，同时播放包含快速起伏的声音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-apple-system"/>
              </a:rPr>
              <a:t>神经元的响应也不是平均铺开，而是形成一簇一簇的 </a:t>
            </a:r>
            <a:r>
              <a:rPr lang="en-US" altLang="zh-CN" sz="1600" dirty="0">
                <a:latin typeface="-apple-system"/>
              </a:rPr>
              <a:t>burst</a:t>
            </a:r>
            <a:r>
              <a:rPr lang="zh-CN" altLang="en-US" sz="1600" dirty="0">
                <a:latin typeface="-apple-system"/>
              </a:rPr>
              <a:t>。研究者把每个 </a:t>
            </a:r>
            <a:r>
              <a:rPr lang="en-US" altLang="zh-CN" sz="1600" dirty="0">
                <a:latin typeface="-apple-system"/>
              </a:rPr>
              <a:t>burst </a:t>
            </a:r>
            <a:r>
              <a:rPr lang="zh-CN" altLang="en-US" sz="1600" dirty="0">
                <a:latin typeface="-apple-system"/>
              </a:rPr>
              <a:t>当成一个候选“词”，并分别检查：</a:t>
            </a:r>
            <a:r>
              <a:rPr lang="en-US" altLang="zh-CN" sz="1600" b="0" i="0" dirty="0">
                <a:effectLst/>
                <a:latin typeface="-apple-system"/>
              </a:rPr>
              <a:t>burst </a:t>
            </a:r>
            <a:r>
              <a:rPr lang="zh-CN" altLang="en-US" sz="1600" b="0" i="0" dirty="0">
                <a:effectLst/>
                <a:latin typeface="-apple-system"/>
              </a:rPr>
              <a:t>什么时候开始；</a:t>
            </a:r>
            <a:r>
              <a:rPr lang="en-US" altLang="zh-CN" sz="1600" b="0" i="0" dirty="0">
                <a:effectLst/>
                <a:latin typeface="-apple-system"/>
              </a:rPr>
              <a:t>burst </a:t>
            </a:r>
            <a:r>
              <a:rPr lang="zh-CN" altLang="en-US" sz="1600" b="0" i="0" dirty="0">
                <a:effectLst/>
                <a:latin typeface="-apple-system"/>
              </a:rPr>
              <a:t>中有几个脉冲；这些量对声音的哪些性质最有信息。</a:t>
            </a:r>
          </a:p>
          <a:p>
            <a:pPr marL="342900" indent="-342900">
              <a:buAutoNum type="arabicPeriod"/>
            </a:pPr>
            <a:endParaRPr lang="en-US" altLang="zh-CN" sz="1600" dirty="0">
              <a:latin typeface="-apple-system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E3505-5D11-4E84-9988-69730E919AAC}"/>
              </a:ext>
            </a:extLst>
          </p:cNvPr>
          <p:cNvSpPr txBox="1"/>
          <p:nvPr/>
        </p:nvSpPr>
        <p:spPr>
          <a:xfrm>
            <a:off x="3903522" y="3799610"/>
            <a:ext cx="79453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zh-CN" altLang="en-US" sz="1600" b="0" i="0" dirty="0">
                <a:effectLst/>
                <a:latin typeface="-apple-system"/>
              </a:rPr>
              <a:t>结果出现了清晰分工：</a:t>
            </a:r>
            <a:r>
              <a:rPr lang="en-US" altLang="zh-CN" sz="1600" b="1" i="0" dirty="0">
                <a:effectLst/>
                <a:latin typeface="-apple-system"/>
              </a:rPr>
              <a:t>burst onset</a:t>
            </a:r>
            <a:r>
              <a:rPr lang="zh-CN" altLang="en-US" sz="1600" b="0" i="0" dirty="0">
                <a:effectLst/>
                <a:latin typeface="-apple-system"/>
              </a:rPr>
              <a:t> 比较准确地标记声音瞬变何时发生；</a:t>
            </a:r>
            <a:r>
              <a:rPr lang="en-US" altLang="zh-CN" sz="1600" b="1" i="0" dirty="0">
                <a:effectLst/>
                <a:latin typeface="-apple-system"/>
              </a:rPr>
              <a:t>burst </a:t>
            </a:r>
            <a:r>
              <a:rPr lang="zh-CN" altLang="en-US" sz="1600" b="1" i="0">
                <a:effectLst/>
                <a:latin typeface="-apple-system"/>
              </a:rPr>
              <a:t>内的脉冲数</a:t>
            </a:r>
            <a:r>
              <a:rPr lang="zh-CN" altLang="en-US" sz="1600" b="0" i="0" dirty="0">
                <a:effectLst/>
                <a:latin typeface="-apple-system"/>
              </a:rPr>
              <a:t>则与瞬变的幅度和持续时间有关。也就是说，一次 </a:t>
            </a:r>
            <a:r>
              <a:rPr lang="en-US" altLang="zh-CN" sz="1600" b="0" i="0" dirty="0">
                <a:effectLst/>
                <a:latin typeface="-apple-system"/>
              </a:rPr>
              <a:t>burst </a:t>
            </a:r>
            <a:r>
              <a:rPr lang="zh-CN" altLang="en-US" sz="1600" b="0" i="0" dirty="0">
                <a:effectLst/>
                <a:latin typeface="-apple-system"/>
              </a:rPr>
              <a:t>同时回答“什么时候”和“多强</a:t>
            </a:r>
            <a:r>
              <a:rPr lang="en-US" altLang="zh-CN" sz="1600" b="0" i="0" dirty="0">
                <a:effectLst/>
                <a:latin typeface="-apple-system"/>
              </a:rPr>
              <a:t>/</a:t>
            </a:r>
            <a:r>
              <a:rPr lang="zh-CN" altLang="en-US" sz="1600" b="0" i="0" dirty="0">
                <a:effectLst/>
                <a:latin typeface="-apple-system"/>
              </a:rPr>
              <a:t>多久”。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726830-D1E3-4CBA-85A1-99CDC1D2A93F}"/>
              </a:ext>
            </a:extLst>
          </p:cNvPr>
          <p:cNvSpPr txBox="1"/>
          <p:nvPr/>
        </p:nvSpPr>
        <p:spPr>
          <a:xfrm>
            <a:off x="3903522" y="1820802"/>
            <a:ext cx="6981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 err="1">
                <a:effectLst/>
                <a:latin typeface="-apple-system"/>
              </a:rPr>
              <a:t>Eyherabide</a:t>
            </a:r>
            <a:r>
              <a:rPr lang="en-US" altLang="zh-CN" sz="1200" b="0" i="0" dirty="0">
                <a:effectLst/>
                <a:latin typeface="-apple-system"/>
              </a:rPr>
              <a:t>, </a:t>
            </a:r>
            <a:r>
              <a:rPr lang="en-US" altLang="zh-CN" sz="1200" b="0" i="0" dirty="0" err="1">
                <a:effectLst/>
                <a:latin typeface="-apple-system"/>
              </a:rPr>
              <a:t>Rokem</a:t>
            </a:r>
            <a:r>
              <a:rPr lang="en-US" altLang="zh-CN" sz="1200" b="0" i="0" dirty="0">
                <a:effectLst/>
                <a:latin typeface="-apple-system"/>
              </a:rPr>
              <a:t>, </a:t>
            </a:r>
            <a:r>
              <a:rPr lang="en-US" altLang="zh-CN" sz="1200" b="0" i="0" dirty="0" err="1">
                <a:effectLst/>
                <a:latin typeface="-apple-system"/>
              </a:rPr>
              <a:t>Herz</a:t>
            </a:r>
            <a:r>
              <a:rPr lang="en-US" altLang="zh-CN" sz="1200" b="0" i="0" dirty="0">
                <a:effectLst/>
                <a:latin typeface="-apple-system"/>
              </a:rPr>
              <a:t> &amp; </a:t>
            </a:r>
            <a:r>
              <a:rPr lang="en-US" altLang="zh-CN" sz="1200" b="0" i="0" dirty="0" err="1">
                <a:effectLst/>
                <a:latin typeface="-apple-system"/>
              </a:rPr>
              <a:t>Samengo</a:t>
            </a:r>
            <a:r>
              <a:rPr lang="en-US" altLang="zh-CN" sz="1200" b="0" i="0" dirty="0">
                <a:effectLst/>
                <a:latin typeface="-apple-system"/>
              </a:rPr>
              <a:t> (2008), </a:t>
            </a:r>
            <a:r>
              <a:rPr lang="en-US" altLang="zh-CN" sz="1200" b="0" i="1" dirty="0">
                <a:effectLst/>
                <a:latin typeface="-apple-system"/>
              </a:rPr>
              <a:t>Burst Firing is a Neural Code in an Insect Auditory System</a:t>
            </a:r>
            <a:endParaRPr lang="zh-CN" altLang="en-US" sz="1200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39B8F63-F5A4-4B0F-8729-1A757C78F8F8}"/>
              </a:ext>
            </a:extLst>
          </p:cNvPr>
          <p:cNvSpPr/>
          <p:nvPr/>
        </p:nvSpPr>
        <p:spPr>
          <a:xfrm>
            <a:off x="6035038" y="4985437"/>
            <a:ext cx="2973495" cy="17761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A2CC16-5FE6-4BE9-9EA2-E6DF341187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81" y="1693085"/>
            <a:ext cx="3348097" cy="17359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17171A0-C652-4B2D-A5C4-F14C4545CE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3" y="3508966"/>
            <a:ext cx="3515197" cy="326348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9577769-9B3F-4A89-B2F2-EBF6FC06AA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072" y="5046689"/>
            <a:ext cx="2579425" cy="165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82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235113" y="859575"/>
            <a:ext cx="12097831" cy="11268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Burst Coding</a:t>
            </a:r>
            <a:r>
              <a:rPr lang="nn-NO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突发编码💣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9920EB-832F-47AA-9D2E-6C04BDD1744A}"/>
              </a:ext>
            </a:extLst>
          </p:cNvPr>
          <p:cNvSpPr txBox="1"/>
          <p:nvPr/>
        </p:nvSpPr>
        <p:spPr>
          <a:xfrm>
            <a:off x="177800" y="1799417"/>
            <a:ext cx="7482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不是让 </a:t>
            </a:r>
            <a:r>
              <a:rPr lang="en-US" altLang="zh-CN" dirty="0"/>
              <a:t>spike </a:t>
            </a:r>
            <a:r>
              <a:rPr lang="zh-CN" altLang="en-US" dirty="0"/>
              <a:t>均匀散布在整个时间轴上，而是让 </a:t>
            </a:r>
            <a:r>
              <a:rPr lang="en-US" altLang="zh-CN" dirty="0"/>
              <a:t>spike </a:t>
            </a:r>
            <a:r>
              <a:rPr lang="zh-CN" altLang="en-US" b="1" dirty="0"/>
              <a:t>成簇出现</a:t>
            </a:r>
            <a:endParaRPr lang="en-US" altLang="zh-CN" b="1" dirty="0"/>
          </a:p>
          <a:p>
            <a:r>
              <a:rPr lang="zh-CN" altLang="en-US" dirty="0"/>
              <a:t>神经元在短时间内连续高速发放几个 </a:t>
            </a:r>
            <a:r>
              <a:rPr lang="en-US" altLang="zh-CN" dirty="0"/>
              <a:t>spike</a:t>
            </a:r>
            <a:r>
              <a:rPr lang="zh-CN" altLang="en-US" dirty="0"/>
              <a:t>，然后沉默一段时间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042345-B035-4DD3-A60B-B127B4432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560" y="1873924"/>
            <a:ext cx="3237000" cy="42955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3C6EF12-B5A6-495C-8DAC-DEFC1D374D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5" y="2655484"/>
            <a:ext cx="3206915" cy="38102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409F3BF-A6D6-4965-B356-BA1EE93504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20" y="3207440"/>
            <a:ext cx="10338331" cy="342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35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-1" y="1054829"/>
            <a:ext cx="6461761" cy="72197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故事八：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一群神经元如何“投票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alt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9DF737-9AFC-4805-8949-8FBC71AC1371}"/>
              </a:ext>
            </a:extLst>
          </p:cNvPr>
          <p:cNvSpPr txBox="1"/>
          <p:nvPr/>
        </p:nvSpPr>
        <p:spPr>
          <a:xfrm>
            <a:off x="8782632" y="3829400"/>
            <a:ext cx="32189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训练猕猴把手从中心位置伸向不同方向的目标，同时记录运动皮层神经元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-apple-system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E3505-5D11-4E84-9988-69730E919AAC}"/>
              </a:ext>
            </a:extLst>
          </p:cNvPr>
          <p:cNvSpPr txBox="1"/>
          <p:nvPr/>
        </p:nvSpPr>
        <p:spPr>
          <a:xfrm>
            <a:off x="190377" y="5037503"/>
            <a:ext cx="118322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每个神经元都有一个“偏好方向”：手朝这个方向运动时，它发得最多；方向逐渐偏离时，发放率通常平滑下降。可单个神经元的调谐很宽，不能只看一只细胞就精确断定手要往哪里去。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研究者于是给每个神经元画一支指向其偏好方向的向量，并用当次发放率决定向量长度，再把所有向量相加</a:t>
            </a:r>
            <a:r>
              <a:rPr lang="zh-CN" altLang="en-US" sz="1600" dirty="0">
                <a:latin typeface="-apple-system"/>
              </a:rPr>
              <a:t>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单支箭头可能偏左、偏右，甚至几乎相反；但种群向量的合成方向通常接近猴子真实的运动方向。单个神经元像立场模糊的选民，整个群体的加权投票却给出清楚答案。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726830-D1E3-4CBA-85A1-99CDC1D2A93F}"/>
              </a:ext>
            </a:extLst>
          </p:cNvPr>
          <p:cNvSpPr txBox="1"/>
          <p:nvPr/>
        </p:nvSpPr>
        <p:spPr>
          <a:xfrm>
            <a:off x="8926528" y="2305088"/>
            <a:ext cx="3142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Georgopoulos, Schwartz &amp; </a:t>
            </a:r>
            <a:r>
              <a:rPr lang="en-US" altLang="zh-CN" sz="1200" b="0" i="0" dirty="0" err="1">
                <a:effectLst/>
                <a:latin typeface="-apple-system"/>
              </a:rPr>
              <a:t>Kettner</a:t>
            </a:r>
            <a:r>
              <a:rPr lang="en-US" altLang="zh-CN" sz="1200" b="0" i="0" dirty="0">
                <a:effectLst/>
                <a:latin typeface="-apple-system"/>
              </a:rPr>
              <a:t> (1986), </a:t>
            </a:r>
            <a:r>
              <a:rPr lang="en-US" altLang="zh-CN" sz="1200" b="0" i="1" dirty="0">
                <a:effectLst/>
                <a:latin typeface="-apple-system"/>
              </a:rPr>
              <a:t>Neuronal population coding of movement direction</a:t>
            </a:r>
            <a:endParaRPr lang="zh-CN" altLang="en-US" sz="1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84CC94-F45F-4B5A-991C-92DED71DE3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44" y="1853642"/>
            <a:ext cx="4726406" cy="29580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F6DE99B-F4B0-46BA-8461-558D978945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445" y="1724290"/>
            <a:ext cx="3590524" cy="341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5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235113" y="934078"/>
            <a:ext cx="12097831" cy="962455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Population Coding</a:t>
            </a:r>
            <a:r>
              <a:rPr lang="nn-NO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种群编码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EDFD3B-6954-40ED-A530-90E08D4FEF20}"/>
              </a:ext>
            </a:extLst>
          </p:cNvPr>
          <p:cNvSpPr txBox="1"/>
          <p:nvPr/>
        </p:nvSpPr>
        <p:spPr>
          <a:xfrm>
            <a:off x="235113" y="1896533"/>
            <a:ext cx="986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核心思想：一个标量 </a:t>
            </a:r>
            <a:r>
              <a:rPr lang="en-US" altLang="zh-CN" dirty="0"/>
              <a:t>x</a:t>
            </a:r>
            <a:r>
              <a:rPr lang="zh-CN" altLang="en-US" dirty="0"/>
              <a:t>，不用一个神经元表示，而是让</a:t>
            </a:r>
            <a:r>
              <a:rPr lang="zh-CN" altLang="en-US" dirty="0">
                <a:highlight>
                  <a:srgbClr val="FFFF00"/>
                </a:highlight>
              </a:rPr>
              <a:t>一群具有不同偏好值的神经元共同表示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05E4A1-7281-4BD4-B641-E56DC143DE11}"/>
              </a:ext>
            </a:extLst>
          </p:cNvPr>
          <p:cNvSpPr txBox="1"/>
          <p:nvPr/>
        </p:nvSpPr>
        <p:spPr>
          <a:xfrm>
            <a:off x="235113" y="2461279"/>
            <a:ext cx="10852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举个例子：</a:t>
            </a:r>
            <a:r>
              <a:rPr lang="en-US" altLang="zh-CN" dirty="0"/>
              <a:t>x=0.7</a:t>
            </a:r>
            <a:r>
              <a:rPr lang="zh-CN" altLang="en-US" dirty="0"/>
              <a:t>，我们现在不用一个神经元，而用 </a:t>
            </a:r>
            <a:r>
              <a:rPr lang="en-US" altLang="zh-CN" dirty="0"/>
              <a:t>5 </a:t>
            </a:r>
            <a:r>
              <a:rPr lang="zh-CN" altLang="en-US" dirty="0"/>
              <a:t>个神经元：</a:t>
            </a:r>
            <a:r>
              <a:rPr lang="en-US" altLang="zh-CN" dirty="0"/>
              <a:t>Neuron 1</a:t>
            </a:r>
            <a:r>
              <a:rPr lang="zh-CN" altLang="en-US" dirty="0"/>
              <a:t>、</a:t>
            </a:r>
            <a:r>
              <a:rPr lang="en-US" altLang="zh-CN" dirty="0"/>
              <a:t>Neuron 2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Neuron 5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但如果五个神经元完全一样，就没什么意义🙃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于是关键来了：</a:t>
            </a:r>
            <a:r>
              <a:rPr lang="zh-CN" altLang="en-US" b="1" dirty="0"/>
              <a:t>让每个神经元“喜欢”的输入不一样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D6DF7D-4393-4EDD-8690-89582B101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3" y="3684201"/>
            <a:ext cx="2542285" cy="227077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94CDC7F-1216-4763-A431-1989EC872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3" y="6054260"/>
            <a:ext cx="3772853" cy="74278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C13F843-2B97-4460-A303-DF6CB949ABF0}"/>
              </a:ext>
            </a:extLst>
          </p:cNvPr>
          <p:cNvSpPr txBox="1"/>
          <p:nvPr/>
        </p:nvSpPr>
        <p:spPr>
          <a:xfrm>
            <a:off x="4438227" y="3777530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“喜欢某个输入”到底是什么意思？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E228C1-5610-4876-9021-CF9DCB0404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415" y="4291217"/>
            <a:ext cx="4159464" cy="22416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B8A44D0-B44B-4747-B0FE-F3D1FA07CB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760" y="4802524"/>
            <a:ext cx="3124320" cy="17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5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235113" y="934078"/>
            <a:ext cx="12097831" cy="962455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Population Coding</a:t>
            </a:r>
            <a:r>
              <a:rPr lang="nn-NO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种群编码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05E4A1-7281-4BD4-B641-E56DC143DE11}"/>
              </a:ext>
            </a:extLst>
          </p:cNvPr>
          <p:cNvSpPr txBox="1"/>
          <p:nvPr/>
        </p:nvSpPr>
        <p:spPr>
          <a:xfrm>
            <a:off x="180927" y="1779015"/>
            <a:ext cx="10852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举个例子：</a:t>
            </a:r>
            <a:r>
              <a:rPr lang="en-US" altLang="zh-CN" dirty="0"/>
              <a:t>x=0.7</a:t>
            </a:r>
            <a:r>
              <a:rPr lang="zh-CN" altLang="en-US" dirty="0"/>
              <a:t>，我们现在不用一个神经元，而用 </a:t>
            </a:r>
            <a:r>
              <a:rPr lang="en-US" altLang="zh-CN" dirty="0"/>
              <a:t>5 </a:t>
            </a:r>
            <a:r>
              <a:rPr lang="zh-CN" altLang="en-US" dirty="0"/>
              <a:t>个神经元：</a:t>
            </a:r>
            <a:r>
              <a:rPr lang="en-US" altLang="zh-CN" dirty="0"/>
              <a:t>Neuron 1</a:t>
            </a:r>
            <a:r>
              <a:rPr lang="zh-CN" altLang="en-US" dirty="0"/>
              <a:t>、</a:t>
            </a:r>
            <a:r>
              <a:rPr lang="en-US" altLang="zh-CN" dirty="0"/>
              <a:t>Neuron 2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Neuron 5</a:t>
            </a:r>
            <a:r>
              <a:rPr lang="zh-CN" altLang="en-US" dirty="0"/>
              <a:t>，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D6DF7D-4393-4EDD-8690-89582B101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27" y="2287772"/>
            <a:ext cx="1891713" cy="1689686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1F8627EA-5D23-45F1-9914-F88F6066D6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E6E8653-2285-4D09-8CA0-89E7EC72E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25" y="2349752"/>
            <a:ext cx="7330946" cy="435501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CEF7970-C139-4410-AADD-B64E8DB595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143" y="2913013"/>
            <a:ext cx="2355215" cy="129243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40734A5-E33A-47D0-BB93-4250D43BC7CB}"/>
              </a:ext>
            </a:extLst>
          </p:cNvPr>
          <p:cNvSpPr txBox="1"/>
          <p:nvPr/>
        </p:nvSpPr>
        <p:spPr>
          <a:xfrm>
            <a:off x="273117" y="4310289"/>
            <a:ext cx="426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神经元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对输入 </a:t>
            </a:r>
            <a:r>
              <a:rPr lang="en-US" altLang="zh-CN" dirty="0"/>
              <a:t>x </a:t>
            </a:r>
            <a:r>
              <a:rPr lang="zh-CN" altLang="en-US" dirty="0"/>
              <a:t>的响应可以写成：</a:t>
            </a:r>
            <a:endParaRPr lang="en-US" altLang="zh-CN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22C878A-5471-4CE2-A512-3D84B58B49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0663" y="4804551"/>
            <a:ext cx="2391225" cy="56312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16A0AFC-3141-41BE-B330-5979B5DE0A6A}"/>
              </a:ext>
            </a:extLst>
          </p:cNvPr>
          <p:cNvSpPr txBox="1"/>
          <p:nvPr/>
        </p:nvSpPr>
        <p:spPr>
          <a:xfrm>
            <a:off x="587782" y="5495913"/>
            <a:ext cx="3635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 = [0.002,0.080,0.607,0.969,0.325]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1F622A-647B-42B5-8C37-476E71546190}"/>
              </a:ext>
            </a:extLst>
          </p:cNvPr>
          <p:cNvSpPr txBox="1"/>
          <p:nvPr/>
        </p:nvSpPr>
        <p:spPr>
          <a:xfrm>
            <a:off x="273117" y="6198077"/>
            <a:ext cx="426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连续值 </a:t>
            </a:r>
            <a:r>
              <a:rPr lang="en-US" altLang="zh-CN" dirty="0">
                <a:highlight>
                  <a:srgbClr val="FFFF00"/>
                </a:highlight>
              </a:rPr>
              <a:t>Gaussian population representation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C9AF8EE-600A-4848-868A-46BE8A2B58EA}"/>
              </a:ext>
            </a:extLst>
          </p:cNvPr>
          <p:cNvSpPr/>
          <p:nvPr/>
        </p:nvSpPr>
        <p:spPr>
          <a:xfrm>
            <a:off x="237089" y="6089226"/>
            <a:ext cx="4393269" cy="59231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94CDC7F-1216-4763-A431-1989EC8728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412" y="2230439"/>
            <a:ext cx="2860300" cy="56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73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235113" y="934078"/>
            <a:ext cx="12097831" cy="962455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Population Coding</a:t>
            </a:r>
            <a:r>
              <a:rPr lang="nn-NO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种群编码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05E4A1-7281-4BD4-B641-E56DC143DE11}"/>
              </a:ext>
            </a:extLst>
          </p:cNvPr>
          <p:cNvSpPr txBox="1"/>
          <p:nvPr/>
        </p:nvSpPr>
        <p:spPr>
          <a:xfrm>
            <a:off x="180927" y="1779015"/>
            <a:ext cx="10852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举个例子：</a:t>
            </a:r>
            <a:r>
              <a:rPr lang="en-US" altLang="zh-CN" dirty="0"/>
              <a:t>x=0.7</a:t>
            </a:r>
            <a:r>
              <a:rPr lang="zh-CN" altLang="en-US" dirty="0"/>
              <a:t>，我们现在不用一个神经元，而用 </a:t>
            </a:r>
            <a:r>
              <a:rPr lang="en-US" altLang="zh-CN" dirty="0"/>
              <a:t>5 </a:t>
            </a:r>
            <a:r>
              <a:rPr lang="zh-CN" altLang="en-US" dirty="0"/>
              <a:t>个神经元：</a:t>
            </a:r>
            <a:r>
              <a:rPr lang="en-US" altLang="zh-CN" dirty="0"/>
              <a:t>Neuron 1</a:t>
            </a:r>
            <a:r>
              <a:rPr lang="zh-CN" altLang="en-US" dirty="0"/>
              <a:t>、</a:t>
            </a:r>
            <a:r>
              <a:rPr lang="en-US" altLang="zh-CN" dirty="0"/>
              <a:t>Neuron 2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Neuron 5</a:t>
            </a:r>
            <a:r>
              <a:rPr lang="zh-CN" altLang="en-US" dirty="0"/>
              <a:t>，</a:t>
            </a:r>
            <a:endParaRPr lang="en-US" altLang="zh-CN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F8627EA-5D23-45F1-9914-F88F6066D6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0734A5-E33A-47D0-BB93-4250D43BC7CB}"/>
              </a:ext>
            </a:extLst>
          </p:cNvPr>
          <p:cNvSpPr txBox="1"/>
          <p:nvPr/>
        </p:nvSpPr>
        <p:spPr>
          <a:xfrm>
            <a:off x="4077328" y="2277482"/>
            <a:ext cx="426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神经元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对输入 </a:t>
            </a:r>
            <a:r>
              <a:rPr lang="en-US" altLang="zh-CN" dirty="0"/>
              <a:t>x </a:t>
            </a:r>
            <a:r>
              <a:rPr lang="zh-CN" altLang="en-US" dirty="0"/>
              <a:t>的响应可以写成：</a:t>
            </a:r>
            <a:endParaRPr lang="en-US" altLang="zh-CN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22C878A-5471-4CE2-A512-3D84B58B4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650" y="2180587"/>
            <a:ext cx="2391225" cy="56312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16A0AFC-3141-41BE-B330-5979B5DE0A6A}"/>
              </a:ext>
            </a:extLst>
          </p:cNvPr>
          <p:cNvSpPr txBox="1"/>
          <p:nvPr/>
        </p:nvSpPr>
        <p:spPr>
          <a:xfrm>
            <a:off x="4077328" y="2728347"/>
            <a:ext cx="3635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 = [0.002,0.080,0.607,0.969,0.325]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94CDC7F-1216-4763-A431-1989EC872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3" y="2356657"/>
            <a:ext cx="3614642" cy="71163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496F28B-0778-4158-B6C5-52511756FFDA}"/>
              </a:ext>
            </a:extLst>
          </p:cNvPr>
          <p:cNvSpPr txBox="1"/>
          <p:nvPr/>
        </p:nvSpPr>
        <p:spPr>
          <a:xfrm>
            <a:off x="180926" y="3296270"/>
            <a:ext cx="2731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怎么转换为脉冲？🤔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92931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235113" y="934078"/>
            <a:ext cx="12097831" cy="962455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Population Coding</a:t>
            </a:r>
            <a:r>
              <a:rPr lang="nn-NO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种群编码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05E4A1-7281-4BD4-B641-E56DC143DE11}"/>
              </a:ext>
            </a:extLst>
          </p:cNvPr>
          <p:cNvSpPr txBox="1"/>
          <p:nvPr/>
        </p:nvSpPr>
        <p:spPr>
          <a:xfrm>
            <a:off x="180927" y="1779015"/>
            <a:ext cx="10852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举个例子：</a:t>
            </a:r>
            <a:r>
              <a:rPr lang="en-US" altLang="zh-CN" dirty="0"/>
              <a:t>x=0.7</a:t>
            </a:r>
            <a:r>
              <a:rPr lang="zh-CN" altLang="en-US" dirty="0"/>
              <a:t>，我们现在不用一个神经元，而用 </a:t>
            </a:r>
            <a:r>
              <a:rPr lang="en-US" altLang="zh-CN" dirty="0"/>
              <a:t>5 </a:t>
            </a:r>
            <a:r>
              <a:rPr lang="zh-CN" altLang="en-US" dirty="0"/>
              <a:t>个神经元：</a:t>
            </a:r>
            <a:r>
              <a:rPr lang="en-US" altLang="zh-CN" dirty="0"/>
              <a:t>Neuron 1</a:t>
            </a:r>
            <a:r>
              <a:rPr lang="zh-CN" altLang="en-US" dirty="0"/>
              <a:t>、</a:t>
            </a:r>
            <a:r>
              <a:rPr lang="en-US" altLang="zh-CN" dirty="0"/>
              <a:t>Neuron 2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Neuron 5</a:t>
            </a:r>
            <a:r>
              <a:rPr lang="zh-CN" altLang="en-US" dirty="0"/>
              <a:t>，</a:t>
            </a:r>
            <a:endParaRPr lang="en-US" altLang="zh-CN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F8627EA-5D23-45F1-9914-F88F6066D6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0734A5-E33A-47D0-BB93-4250D43BC7CB}"/>
              </a:ext>
            </a:extLst>
          </p:cNvPr>
          <p:cNvSpPr txBox="1"/>
          <p:nvPr/>
        </p:nvSpPr>
        <p:spPr>
          <a:xfrm>
            <a:off x="4077328" y="2277482"/>
            <a:ext cx="426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神经元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对输入 </a:t>
            </a:r>
            <a:r>
              <a:rPr lang="en-US" altLang="zh-CN" dirty="0"/>
              <a:t>x </a:t>
            </a:r>
            <a:r>
              <a:rPr lang="zh-CN" altLang="en-US" dirty="0"/>
              <a:t>的响应可以写成：</a:t>
            </a:r>
            <a:endParaRPr lang="en-US" altLang="zh-CN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22C878A-5471-4CE2-A512-3D84B58B4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650" y="2180587"/>
            <a:ext cx="2391225" cy="56312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16A0AFC-3141-41BE-B330-5979B5DE0A6A}"/>
              </a:ext>
            </a:extLst>
          </p:cNvPr>
          <p:cNvSpPr txBox="1"/>
          <p:nvPr/>
        </p:nvSpPr>
        <p:spPr>
          <a:xfrm>
            <a:off x="4077328" y="2728347"/>
            <a:ext cx="3635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 = [0.002,0.080,0.607,0.969,0.325]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94CDC7F-1216-4763-A431-1989EC872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3" y="2356657"/>
            <a:ext cx="3614642" cy="71163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496F28B-0778-4158-B6C5-52511756FFDA}"/>
              </a:ext>
            </a:extLst>
          </p:cNvPr>
          <p:cNvSpPr txBox="1"/>
          <p:nvPr/>
        </p:nvSpPr>
        <p:spPr>
          <a:xfrm>
            <a:off x="180927" y="3276599"/>
            <a:ext cx="8353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怎么转换为脉冲？🤔                        </a:t>
            </a:r>
            <a:r>
              <a:rPr lang="en-US" altLang="zh-CN" dirty="0"/>
              <a:t>——</a:t>
            </a:r>
            <a:r>
              <a:rPr lang="zh-CN" altLang="en-US" dirty="0"/>
              <a:t>当然是：爱咋转换咋转换😂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A9404D8-94F9-4EDC-8F5A-414956D34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299" y="3789712"/>
            <a:ext cx="3219287" cy="297632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9D5F01E-DBAC-42DF-86D9-9DCAB863613A}"/>
              </a:ext>
            </a:extLst>
          </p:cNvPr>
          <p:cNvSpPr txBox="1"/>
          <p:nvPr/>
        </p:nvSpPr>
        <p:spPr>
          <a:xfrm>
            <a:off x="3626550" y="4127852"/>
            <a:ext cx="845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种群编码主要回答“由多少个神经元、以什么空间模式来表示信息”；</a:t>
            </a:r>
            <a:endParaRPr lang="en-US" altLang="zh-CN" dirty="0"/>
          </a:p>
          <a:p>
            <a:r>
              <a:rPr lang="zh-CN" altLang="en-US" dirty="0"/>
              <a:t>速率编码和时间编码主要回答“这些神经元通过脉冲的什么属性来携带信息”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它们是解耦的，可以</a:t>
            </a:r>
            <a:r>
              <a:rPr lang="zh-CN" altLang="en-US" b="1" dirty="0"/>
              <a:t>组合使用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5131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-1" y="1054829"/>
            <a:ext cx="9347201" cy="72197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故事九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：视网膜不是在传照片，而是在报告“哪里变了”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9DF737-9AFC-4805-8949-8FBC71AC1371}"/>
              </a:ext>
            </a:extLst>
          </p:cNvPr>
          <p:cNvSpPr txBox="1"/>
          <p:nvPr/>
        </p:nvSpPr>
        <p:spPr>
          <a:xfrm>
            <a:off x="4900505" y="1892632"/>
            <a:ext cx="72061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+mj-ea"/>
                <a:ea typeface="+mj-ea"/>
              </a:rPr>
              <a:t>实验过程：</a:t>
            </a:r>
            <a:endParaRPr lang="en-US" altLang="zh-CN" sz="1600" b="0" i="0" dirty="0">
              <a:effectLst/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en-US" altLang="zh-CN" sz="1600" b="0" i="0" dirty="0" err="1">
                <a:effectLst/>
                <a:latin typeface="-apple-system"/>
              </a:rPr>
              <a:t>Kuffler</a:t>
            </a:r>
            <a:r>
              <a:rPr lang="en-US" altLang="zh-CN" sz="1600" b="0" i="0" dirty="0">
                <a:effectLst/>
                <a:latin typeface="-apple-system"/>
              </a:rPr>
              <a:t> </a:t>
            </a:r>
            <a:r>
              <a:rPr lang="zh-CN" altLang="en-US" sz="1600" b="0" i="0" dirty="0">
                <a:effectLst/>
                <a:latin typeface="-apple-system"/>
              </a:rPr>
              <a:t>用小光点逐个扫描猫视网膜，同时记录单根视神经纤维</a:t>
            </a:r>
            <a:endParaRPr lang="en-US" altLang="zh-CN" sz="1600" dirty="0">
              <a:latin typeface="-apple-system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E3505-5D11-4E84-9988-69730E919AAC}"/>
              </a:ext>
            </a:extLst>
          </p:cNvPr>
          <p:cNvSpPr txBox="1"/>
          <p:nvPr/>
        </p:nvSpPr>
        <p:spPr>
          <a:xfrm>
            <a:off x="4900505" y="2593240"/>
            <a:ext cx="666561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实验结果：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视网膜神经节细胞不是简单报告某个像素“现在有多亮”，而是具有空间组织和相反响应类型。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有些细胞在感受野中心变亮时强烈放电，称为 </a:t>
            </a:r>
            <a:r>
              <a:rPr lang="en-US" altLang="zh-CN" sz="1600" b="0" i="0" dirty="0">
                <a:effectLst/>
                <a:latin typeface="-apple-system"/>
              </a:rPr>
              <a:t>ON-center</a:t>
            </a:r>
            <a:r>
              <a:rPr lang="zh-CN" altLang="en-US" sz="1600" b="0" i="0" dirty="0">
                <a:effectLst/>
                <a:latin typeface="-apple-system"/>
              </a:rPr>
              <a:t>；另一些在中心变暗或光被关掉时放电，称为 </a:t>
            </a:r>
            <a:r>
              <a:rPr lang="en-US" altLang="zh-CN" sz="1600" b="0" i="0" dirty="0" err="1">
                <a:effectLst/>
                <a:latin typeface="-apple-system"/>
              </a:rPr>
              <a:t>OFF-center</a:t>
            </a:r>
            <a:r>
              <a:rPr lang="zh-CN" altLang="en-US" sz="1600" b="0" i="0" dirty="0">
                <a:effectLst/>
                <a:latin typeface="-apple-system"/>
              </a:rPr>
              <a:t>。中心周围的一圈区域往往产生相反作用，形成中心</a:t>
            </a:r>
            <a:r>
              <a:rPr lang="en-US" altLang="zh-CN" sz="1600" b="0" i="0" dirty="0">
                <a:effectLst/>
                <a:latin typeface="-apple-system"/>
              </a:rPr>
              <a:t>—</a:t>
            </a:r>
            <a:r>
              <a:rPr lang="zh-CN" altLang="en-US" sz="1600" b="0" i="0" dirty="0">
                <a:effectLst/>
                <a:latin typeface="-apple-system"/>
              </a:rPr>
              <a:t>周围拮抗</a:t>
            </a:r>
            <a:endParaRPr lang="en-US" altLang="zh-CN" sz="1600" b="0" i="0" dirty="0">
              <a:effectLst/>
              <a:latin typeface="-apple-system"/>
            </a:endParaRPr>
          </a:p>
          <a:p>
            <a:pPr marL="342900" indent="-342900">
              <a:buAutoNum type="arabicPeriod"/>
            </a:pPr>
            <a:r>
              <a:rPr lang="zh-CN" altLang="en-US" sz="1600" b="0" i="0" dirty="0">
                <a:effectLst/>
                <a:latin typeface="-apple-system"/>
              </a:rPr>
              <a:t>于是，当一大片区域均匀变亮时，中心和周围的作用会部分抵消；当边缘经过感受野、局部出现亮暗变化时，响应反而突出。视网膜在信号进入大脑前，已经不再忠实传送完整“图像帧”，而在强调变化、边界和局部对比。</a:t>
            </a:r>
            <a:endParaRPr lang="zh-CN" altLang="en-US" sz="1600" dirty="0">
              <a:latin typeface="+mj-ea"/>
              <a:ea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69ECD3-93E9-4133-9EF8-C8191E1BB9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1" y="1744087"/>
            <a:ext cx="4258822" cy="22868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0DC7650-B796-442F-86CD-6A1AD7F97555}"/>
              </a:ext>
            </a:extLst>
          </p:cNvPr>
          <p:cNvSpPr txBox="1"/>
          <p:nvPr/>
        </p:nvSpPr>
        <p:spPr>
          <a:xfrm>
            <a:off x="320841" y="6396243"/>
            <a:ext cx="43527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-apple-system"/>
              </a:rPr>
              <a:t>Georgopoulos, Schwartz &amp; </a:t>
            </a:r>
            <a:r>
              <a:rPr lang="en-US" altLang="zh-CN" sz="1200" b="0" i="0" dirty="0" err="1">
                <a:effectLst/>
                <a:latin typeface="-apple-system"/>
              </a:rPr>
              <a:t>Kettner</a:t>
            </a:r>
            <a:r>
              <a:rPr lang="en-US" altLang="zh-CN" sz="1200" b="0" i="0" dirty="0">
                <a:effectLst/>
                <a:latin typeface="-apple-system"/>
              </a:rPr>
              <a:t> (1986), </a:t>
            </a:r>
            <a:r>
              <a:rPr lang="en-US" altLang="zh-CN" sz="1200" b="0" i="1" dirty="0">
                <a:effectLst/>
                <a:latin typeface="-apple-system"/>
              </a:rPr>
              <a:t>Neuronal population coding of movement direction</a:t>
            </a:r>
            <a:endParaRPr lang="zh-CN" altLang="en-US" sz="12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2A095B8-EB3C-4F1F-BB35-7A28F6932B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93" y="4075307"/>
            <a:ext cx="2892574" cy="2276592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F473241-CCD2-4A43-85DD-086A86DE3D70}"/>
              </a:ext>
            </a:extLst>
          </p:cNvPr>
          <p:cNvSpPr/>
          <p:nvPr/>
        </p:nvSpPr>
        <p:spPr>
          <a:xfrm>
            <a:off x="4964849" y="5207117"/>
            <a:ext cx="6970654" cy="4290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A17C4C-B362-443A-AA0E-30022CA78712}"/>
              </a:ext>
            </a:extLst>
          </p:cNvPr>
          <p:cNvSpPr txBox="1"/>
          <p:nvPr/>
        </p:nvSpPr>
        <p:spPr>
          <a:xfrm>
            <a:off x="5057982" y="5254027"/>
            <a:ext cx="6784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highlight>
                  <a:srgbClr val="FFFF00"/>
                </a:highlight>
                <a:latin typeface="-apple-system"/>
              </a:rPr>
              <a:t>为</a:t>
            </a:r>
            <a:r>
              <a:rPr lang="en-US" altLang="zh-CN" b="1" i="0" dirty="0">
                <a:effectLst/>
                <a:highlight>
                  <a:srgbClr val="FFFF00"/>
                </a:highlight>
                <a:latin typeface="-apple-system"/>
              </a:rPr>
              <a:t>ON/OFF </a:t>
            </a:r>
            <a:r>
              <a:rPr lang="zh-CN" altLang="en-US" b="1" i="0" dirty="0">
                <a:effectLst/>
                <a:highlight>
                  <a:srgbClr val="FFFF00"/>
                </a:highlight>
                <a:latin typeface="-apple-system"/>
              </a:rPr>
              <a:t>双通道、变化检测和事件驱动编码</a:t>
            </a:r>
            <a:r>
              <a:rPr lang="zh-CN" altLang="en-US" b="0" i="0" dirty="0">
                <a:effectLst/>
                <a:highlight>
                  <a:srgbClr val="FFFF00"/>
                </a:highlight>
                <a:latin typeface="-apple-system"/>
              </a:rPr>
              <a:t>提供了强生物学基础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B9A3941-551E-4257-BE1E-BADFD1D8C0AD}"/>
              </a:ext>
            </a:extLst>
          </p:cNvPr>
          <p:cNvSpPr txBox="1"/>
          <p:nvPr/>
        </p:nvSpPr>
        <p:spPr>
          <a:xfrm>
            <a:off x="5029193" y="5749238"/>
            <a:ext cx="6813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几十年后，</a:t>
            </a:r>
            <a:r>
              <a:rPr lang="en-US" altLang="zh-CN" sz="1600" dirty="0"/>
              <a:t>DVS </a:t>
            </a:r>
            <a:r>
              <a:rPr lang="zh-CN" altLang="en-US" sz="1600" dirty="0"/>
              <a:t>事件相机把其中一个思想工程化：像素不是定期输出完整亮度，而是只在局部对数亮度变化超过阈值时输出正负事件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57269C8-1AE1-48AC-8E18-4413A87A9081}"/>
              </a:ext>
            </a:extLst>
          </p:cNvPr>
          <p:cNvSpPr txBox="1"/>
          <p:nvPr/>
        </p:nvSpPr>
        <p:spPr>
          <a:xfrm>
            <a:off x="5057982" y="6351899"/>
            <a:ext cx="71560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Lichtsteiner P, 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Posch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C, Delbruck T. A 128$\times $128 120 dB 15$\mu $ s latency asynchronous temporal contrast vision sensor[J]. IEEE journal of solid-state circuits, 2008, 43(2): 566-576.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87920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248659" y="1014348"/>
            <a:ext cx="12097831" cy="962455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Event / Delta Coding 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</a:t>
            </a:r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差分</a:t>
            </a:r>
            <a:r>
              <a:rPr lang="en-US" altLang="zh-CN" sz="2800" b="1" dirty="0" err="1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</a:t>
            </a:r>
            <a:endParaRPr lang="en-US" sz="2800" b="1" dirty="0">
              <a:solidFill>
                <a:srgbClr val="0B1F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71CA35-97A3-4971-9C2F-3F0F8F9F2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59" y="1847274"/>
            <a:ext cx="4526541" cy="55674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93A115A-9971-40BB-A899-7933B70490BE}"/>
              </a:ext>
            </a:extLst>
          </p:cNvPr>
          <p:cNvSpPr txBox="1"/>
          <p:nvPr/>
        </p:nvSpPr>
        <p:spPr>
          <a:xfrm>
            <a:off x="248659" y="2494187"/>
            <a:ext cx="617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Send-on-Delta </a:t>
            </a:r>
            <a:r>
              <a:rPr lang="zh-CN" altLang="en-US" dirty="0"/>
              <a:t>实现方式：</a:t>
            </a:r>
            <a:r>
              <a:rPr lang="en-US" altLang="zh-CN" dirty="0"/>
              <a:t>Delta </a:t>
            </a:r>
            <a:r>
              <a:rPr lang="zh-CN" altLang="en-US" dirty="0"/>
              <a:t>足够大时，</a:t>
            </a:r>
            <a:r>
              <a:rPr lang="en-US" altLang="zh-CN" dirty="0"/>
              <a:t>Send </a:t>
            </a:r>
            <a:r>
              <a:rPr lang="zh-CN" altLang="en-US" dirty="0"/>
              <a:t>一个 </a:t>
            </a:r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267843-4240-4A61-B75D-3FB206E7B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65" y="3014133"/>
            <a:ext cx="3145601" cy="36880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8D1AEF2-7CCA-4FFC-BF77-228CB6749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007" y="3014132"/>
            <a:ext cx="7171440" cy="361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51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-189654" y="1060110"/>
            <a:ext cx="4734561" cy="72197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 coding </a:t>
            </a:r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直接编码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1D3198-734F-4198-ACA2-8B040A2D6D1E}"/>
              </a:ext>
            </a:extLst>
          </p:cNvPr>
          <p:cNvSpPr txBox="1"/>
          <p:nvPr/>
        </p:nvSpPr>
        <p:spPr>
          <a:xfrm>
            <a:off x="161636" y="4693223"/>
            <a:ext cx="40319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SNN</a:t>
            </a:r>
            <a:r>
              <a:rPr lang="zh-CN" altLang="en-US" sz="1400" dirty="0"/>
              <a:t>的输入数据</a:t>
            </a:r>
            <a:r>
              <a:rPr lang="zh-CN" altLang="en-US" sz="1400" b="1" dirty="0"/>
              <a:t>并不一定非要先编码成脉冲</a:t>
            </a:r>
            <a:r>
              <a:rPr lang="zh-CN" altLang="en-US" sz="1400" dirty="0"/>
              <a:t>。我们完全可以直接将连续数值作为输入，这有点类似于人类视觉感知的起点：连续到达的光子作用在我们的感光细胞上。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EB2841-E443-4D08-9DA2-F4016551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4" y="1977619"/>
            <a:ext cx="4109064" cy="253292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9400C96-E9C3-494D-BDFB-ABEEDC91D70D}"/>
              </a:ext>
            </a:extLst>
          </p:cNvPr>
          <p:cNvSpPr txBox="1"/>
          <p:nvPr/>
        </p:nvSpPr>
        <p:spPr>
          <a:xfrm>
            <a:off x="4314613" y="1977619"/>
            <a:ext cx="28996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对于</a:t>
            </a:r>
            <a:r>
              <a:rPr lang="zh-CN" altLang="en-US" sz="1400" b="1" dirty="0"/>
              <a:t>静态数据</a:t>
            </a:r>
            <a:r>
              <a:rPr lang="zh-CN" altLang="en-US" sz="1400" dirty="0"/>
              <a:t>，例如一张图像，可以把它当作一种</a:t>
            </a:r>
            <a:r>
              <a:rPr lang="zh-CN" altLang="en-US" sz="1400" b="1" dirty="0"/>
              <a:t>直流（</a:t>
            </a:r>
            <a:r>
              <a:rPr lang="en-US" altLang="zh-CN" sz="1400" b="1" dirty="0"/>
              <a:t>direct current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DC</a:t>
            </a:r>
            <a:r>
              <a:rPr lang="zh-CN" altLang="en-US" sz="1400" b="1" dirty="0"/>
              <a:t>）输入</a:t>
            </a:r>
            <a:r>
              <a:rPr lang="zh-CN" altLang="en-US" sz="1400" dirty="0"/>
              <a:t>：</a:t>
            </a:r>
            <a:r>
              <a:rPr lang="zh-CN" altLang="en-US" sz="1400" dirty="0">
                <a:highlight>
                  <a:srgbClr val="FFFF00"/>
                </a:highlight>
              </a:rPr>
              <a:t>在 </a:t>
            </a:r>
            <a:r>
              <a:rPr lang="en-US" altLang="zh-CN" sz="1400" dirty="0">
                <a:highlight>
                  <a:srgbClr val="FFFF00"/>
                </a:highlight>
              </a:rPr>
              <a:t>SNN </a:t>
            </a:r>
            <a:r>
              <a:rPr lang="zh-CN" altLang="en-US" sz="1400" dirty="0">
                <a:highlight>
                  <a:srgbClr val="FFFF00"/>
                </a:highlight>
              </a:rPr>
              <a:t>的每一个时间步，都将完全相同的输入特征送入网络的输入层</a:t>
            </a:r>
            <a:r>
              <a:rPr lang="zh-CN" altLang="en-US" sz="1400" dirty="0"/>
              <a:t>。</a:t>
            </a:r>
          </a:p>
          <a:p>
            <a:r>
              <a:rPr lang="zh-CN" altLang="en-US" sz="1400" dirty="0"/>
              <a:t>例如，一张图片中某个像素的值为：</a:t>
            </a:r>
            <a:r>
              <a:rPr lang="en-US" altLang="zh-CN" sz="1400" dirty="0"/>
              <a:t>x=0.7 </a:t>
            </a:r>
          </a:p>
          <a:p>
            <a:r>
              <a:rPr lang="zh-CN" altLang="en-US" sz="1400" dirty="0"/>
              <a:t>如果 </a:t>
            </a:r>
            <a:r>
              <a:rPr lang="en-US" altLang="zh-CN" sz="1400" dirty="0"/>
              <a:t>SNN </a:t>
            </a:r>
            <a:r>
              <a:rPr lang="zh-CN" altLang="en-US" sz="1400" dirty="0"/>
              <a:t>运行 </a:t>
            </a:r>
            <a:r>
              <a:rPr lang="en-US" altLang="zh-CN" sz="1400" dirty="0"/>
              <a:t>T=5 </a:t>
            </a:r>
            <a:r>
              <a:rPr lang="zh-CN" altLang="en-US" sz="1400" dirty="0"/>
              <a:t>个时间步，那么直接输入就是：</a:t>
            </a:r>
          </a:p>
          <a:p>
            <a:r>
              <a:rPr lang="en-US" altLang="zh-CN" sz="1400" dirty="0"/>
              <a:t>[0.7, 0.7, 0.7, 0.7, 0.7] </a:t>
            </a:r>
            <a:r>
              <a:rPr lang="zh-CN" altLang="en-US" sz="1400" dirty="0"/>
              <a:t>也就是说，不需要把 </a:t>
            </a:r>
            <a:r>
              <a:rPr lang="en-US" altLang="zh-CN" sz="1400" dirty="0"/>
              <a:t>0.7 </a:t>
            </a:r>
            <a:r>
              <a:rPr lang="zh-CN" altLang="en-US" sz="1400" dirty="0"/>
              <a:t>转换成 </a:t>
            </a:r>
            <a:r>
              <a:rPr lang="en-US" altLang="zh-CN" sz="1400" dirty="0"/>
              <a:t>0/1 </a:t>
            </a:r>
            <a:r>
              <a:rPr lang="zh-CN" altLang="en-US" sz="1400" dirty="0"/>
              <a:t>脉冲序列，而是每个时刻都直接输入 </a:t>
            </a:r>
            <a:r>
              <a:rPr lang="en-US" altLang="zh-CN" sz="1400" dirty="0"/>
              <a:t>0.7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endParaRPr lang="zh-CN" altLang="en-US" sz="1400" dirty="0"/>
          </a:p>
          <a:p>
            <a:r>
              <a:rPr lang="zh-CN" altLang="en-US" sz="1400" dirty="0"/>
              <a:t>不过，这种方式并没有利用 </a:t>
            </a:r>
            <a:r>
              <a:rPr lang="en-US" altLang="zh-CN" sz="1400" dirty="0"/>
              <a:t>SNN </a:t>
            </a:r>
            <a:r>
              <a:rPr lang="zh-CN" altLang="en-US" sz="1400" dirty="0"/>
              <a:t>从时间信息（</a:t>
            </a:r>
            <a:r>
              <a:rPr lang="en-US" altLang="zh-CN" sz="1400" dirty="0"/>
              <a:t>temporal data</a:t>
            </a:r>
            <a:r>
              <a:rPr lang="zh-CN" altLang="en-US" sz="1400" dirty="0"/>
              <a:t>）中提取特征的能力。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862B0B-D51F-4897-BB0A-C33B49E55986}"/>
              </a:ext>
            </a:extLst>
          </p:cNvPr>
          <p:cNvSpPr txBox="1"/>
          <p:nvPr/>
        </p:nvSpPr>
        <p:spPr>
          <a:xfrm>
            <a:off x="1574802" y="5939526"/>
            <a:ext cx="481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Direct coding </a:t>
            </a:r>
            <a:r>
              <a:rPr lang="zh-CN" altLang="en-US" dirty="0"/>
              <a:t>并不是自己生成 </a:t>
            </a:r>
            <a:r>
              <a:rPr lang="en-US" altLang="zh-CN" dirty="0"/>
              <a:t>spike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真正的 </a:t>
            </a:r>
            <a:r>
              <a:rPr lang="en-US" altLang="zh-CN" dirty="0"/>
              <a:t>spike </a:t>
            </a:r>
            <a:r>
              <a:rPr lang="zh-CN" altLang="en-US" dirty="0"/>
              <a:t>是由后面的 </a:t>
            </a:r>
            <a:r>
              <a:rPr lang="en-US" altLang="zh-CN" dirty="0"/>
              <a:t>SNN </a:t>
            </a:r>
            <a:r>
              <a:rPr lang="zh-CN" altLang="en-US" dirty="0"/>
              <a:t>神经元产生的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8C3123-95F8-4B31-B051-167637AFE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403" y="1204348"/>
            <a:ext cx="4544890" cy="5557643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3E39E69-6E73-46B6-8A9D-AAF2D8E5DD60}"/>
              </a:ext>
            </a:extLst>
          </p:cNvPr>
          <p:cNvSpPr/>
          <p:nvPr/>
        </p:nvSpPr>
        <p:spPr>
          <a:xfrm>
            <a:off x="1492416" y="5932970"/>
            <a:ext cx="4734561" cy="7219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446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882A7-B0C3-4144-821E-E8BF22962368}"/>
              </a:ext>
            </a:extLst>
          </p:cNvPr>
          <p:cNvSpPr/>
          <p:nvPr/>
        </p:nvSpPr>
        <p:spPr>
          <a:xfrm>
            <a:off x="-291253" y="1023375"/>
            <a:ext cx="3549228" cy="72197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B1F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二进制时间编码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B4172-F9D9-40AF-A284-6F81FC55F52E}"/>
              </a:ext>
            </a:extLst>
          </p:cNvPr>
          <p:cNvSpPr txBox="1"/>
          <p:nvPr/>
        </p:nvSpPr>
        <p:spPr>
          <a:xfrm>
            <a:off x="147319" y="1754371"/>
            <a:ext cx="11678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把一个连续值 </a:t>
            </a:r>
            <a:r>
              <a:rPr lang="en-US" altLang="zh-CN" dirty="0"/>
              <a:t>x∈[0,1]</a:t>
            </a:r>
            <a:r>
              <a:rPr lang="zh-CN" altLang="en-US" dirty="0"/>
              <a:t>，拆成若干个二进制权重 </a:t>
            </a:r>
            <a:r>
              <a:rPr lang="en-US" altLang="zh-CN" dirty="0"/>
              <a:t>1/2,1/4,1/8,…</a:t>
            </a:r>
            <a:r>
              <a:rPr lang="zh-CN" altLang="en-US" dirty="0"/>
              <a:t>，然后用不同时间步上的脉冲 </a:t>
            </a:r>
            <a:r>
              <a:rPr lang="en-US" altLang="zh-CN" dirty="0"/>
              <a:t>0/1 </a:t>
            </a:r>
            <a:r>
              <a:rPr lang="zh-CN" altLang="en-US" dirty="0"/>
              <a:t>表示这些二进制位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FC139D-38EA-48E5-B72E-6A689FA687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19" y="2687714"/>
            <a:ext cx="4417908" cy="30990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AB70A8F-B6E3-4007-BC3A-85E0FF88C9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19" y="5982799"/>
            <a:ext cx="5494147" cy="72197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A5ADDFC-5143-43F2-81D9-4CB01E82917C}"/>
              </a:ext>
            </a:extLst>
          </p:cNvPr>
          <p:cNvSpPr txBox="1"/>
          <p:nvPr/>
        </p:nvSpPr>
        <p:spPr>
          <a:xfrm>
            <a:off x="147319" y="2221042"/>
            <a:ext cx="1437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举个例子：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64448A-8F13-461C-91DA-149F22DDB8AB}"/>
              </a:ext>
            </a:extLst>
          </p:cNvPr>
          <p:cNvSpPr txBox="1"/>
          <p:nvPr/>
        </p:nvSpPr>
        <p:spPr>
          <a:xfrm>
            <a:off x="5377177" y="2222509"/>
            <a:ext cx="1437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小细节：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756C3A0-3700-4B6D-A3CD-13C30455FA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94" y="2149694"/>
            <a:ext cx="3684500" cy="202516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89D9F56-2D78-4469-B013-174FFCB9F63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487" t="101"/>
          <a:stretch/>
        </p:blipFill>
        <p:spPr>
          <a:xfrm>
            <a:off x="6515194" y="4247678"/>
            <a:ext cx="4051206" cy="275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1C11DD1-F241-41E9-AA2D-4EE462ABA8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29" y="4627820"/>
            <a:ext cx="1924149" cy="36196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E557D2A-6BE0-4BD2-AFB7-8010EC6AEFBA}"/>
              </a:ext>
            </a:extLst>
          </p:cNvPr>
          <p:cNvSpPr txBox="1"/>
          <p:nvPr/>
        </p:nvSpPr>
        <p:spPr>
          <a:xfrm>
            <a:off x="6379631" y="4639527"/>
            <a:ext cx="3820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输入需要做一次映射再编码：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B45937-C951-4EB6-8788-7ED159A612B4}"/>
              </a:ext>
            </a:extLst>
          </p:cNvPr>
          <p:cNvSpPr txBox="1"/>
          <p:nvPr/>
        </p:nvSpPr>
        <p:spPr>
          <a:xfrm>
            <a:off x="7129143" y="6051302"/>
            <a:ext cx="3751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该编码方式对时间位置极其敏感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422B54B-8294-414D-943D-5B0C6CD797F3}"/>
              </a:ext>
            </a:extLst>
          </p:cNvPr>
          <p:cNvSpPr/>
          <p:nvPr/>
        </p:nvSpPr>
        <p:spPr>
          <a:xfrm>
            <a:off x="6687442" y="5378730"/>
            <a:ext cx="4328221" cy="11924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5DF4B91-6225-43CE-BF51-A187EECEB3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143" y="5587367"/>
            <a:ext cx="3384724" cy="32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86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977743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脉冲编码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7D0539FF-EE08-4038-839B-2ED6F018F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979739"/>
              </p:ext>
            </p:extLst>
          </p:nvPr>
        </p:nvGraphicFramePr>
        <p:xfrm>
          <a:off x="129775" y="1303311"/>
          <a:ext cx="11932445" cy="5246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494">
                  <a:extLst>
                    <a:ext uri="{9D8B030D-6E8A-4147-A177-3AD203B41FA5}">
                      <a16:colId xmlns:a16="http://schemas.microsoft.com/office/drawing/2014/main" val="1272992097"/>
                    </a:ext>
                  </a:extLst>
                </a:gridCol>
                <a:gridCol w="1710926">
                  <a:extLst>
                    <a:ext uri="{9D8B030D-6E8A-4147-A177-3AD203B41FA5}">
                      <a16:colId xmlns:a16="http://schemas.microsoft.com/office/drawing/2014/main" val="3450256692"/>
                    </a:ext>
                  </a:extLst>
                </a:gridCol>
                <a:gridCol w="810818">
                  <a:extLst>
                    <a:ext uri="{9D8B030D-6E8A-4147-A177-3AD203B41FA5}">
                      <a16:colId xmlns:a16="http://schemas.microsoft.com/office/drawing/2014/main" val="1678837813"/>
                    </a:ext>
                  </a:extLst>
                </a:gridCol>
                <a:gridCol w="4061219">
                  <a:extLst>
                    <a:ext uri="{9D8B030D-6E8A-4147-A177-3AD203B41FA5}">
                      <a16:colId xmlns:a16="http://schemas.microsoft.com/office/drawing/2014/main" val="1568204392"/>
                    </a:ext>
                  </a:extLst>
                </a:gridCol>
                <a:gridCol w="4471988">
                  <a:extLst>
                    <a:ext uri="{9D8B030D-6E8A-4147-A177-3AD203B41FA5}">
                      <a16:colId xmlns:a16="http://schemas.microsoft.com/office/drawing/2014/main" val="949537304"/>
                    </a:ext>
                  </a:extLst>
                </a:gridCol>
              </a:tblGrid>
              <a:tr h="565667">
                <a:tc>
                  <a:txBody>
                    <a:bodyPr/>
                    <a:lstStyle/>
                    <a:p>
                      <a:r>
                        <a:rPr lang="zh-CN" altLang="en-US" sz="1400"/>
                        <a:t>编码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信息藏在哪里？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生物证据强度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主要优势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主要局限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876812"/>
                  </a:ext>
                </a:extLst>
              </a:tr>
              <a:tr h="352728">
                <a:tc>
                  <a:txBody>
                    <a:bodyPr/>
                    <a:lstStyle/>
                    <a:p>
                      <a:r>
                        <a:rPr lang="en-US" sz="1200" b="1"/>
                        <a:t>Rate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spike </a:t>
                      </a:r>
                      <a:r>
                        <a:rPr lang="zh-CN" altLang="en-US" sz="1200" dirty="0"/>
                        <a:t>数量 </a:t>
                      </a:r>
                      <a:r>
                        <a:rPr lang="en-US" altLang="zh-CN" sz="1200" dirty="0"/>
                        <a:t>/ </a:t>
                      </a:r>
                      <a:r>
                        <a:rPr lang="zh-CN" altLang="en-US" sz="1200" dirty="0"/>
                        <a:t>发放速率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直观、稳定、鲁棒性好</a:t>
                      </a:r>
                      <a:r>
                        <a:rPr lang="zh-CN" altLang="en-US" sz="1200"/>
                        <a:t>；不依赖单个 </a:t>
                      </a:r>
                      <a:r>
                        <a:rPr lang="en-US" altLang="zh-CN" sz="1200"/>
                        <a:t>spike </a:t>
                      </a:r>
                      <a:r>
                        <a:rPr lang="zh-CN" altLang="en-US" sz="1200"/>
                        <a:t>的精确时间，容易和 </a:t>
                      </a:r>
                      <a:r>
                        <a:rPr lang="en-US" altLang="zh-CN" sz="1200"/>
                        <a:t>ANN </a:t>
                      </a:r>
                      <a:r>
                        <a:rPr lang="zh-CN" altLang="en-US" sz="1200"/>
                        <a:t>的连续激活值对应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需要一定时间窗口统计速率</a:t>
                      </a:r>
                      <a:r>
                        <a:rPr lang="zh-CN" altLang="en-US" sz="1200" dirty="0"/>
                        <a:t>，响应相对较慢；通常需要较多 </a:t>
                      </a:r>
                      <a:r>
                        <a:rPr lang="en-US" altLang="zh-CN" sz="1200" dirty="0"/>
                        <a:t>spike</a:t>
                      </a:r>
                      <a:r>
                        <a:rPr lang="zh-CN" altLang="en-US" sz="1200" dirty="0"/>
                        <a:t>，时间信息利用不足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409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/>
                        <a:t>Latency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第一枚 </a:t>
                      </a:r>
                      <a:r>
                        <a:rPr lang="en-US" altLang="zh-CN" sz="1200"/>
                        <a:t>spike </a:t>
                      </a:r>
                      <a:r>
                        <a:rPr lang="zh-CN" altLang="en-US" sz="1200"/>
                        <a:t>的发放时间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速度快、脉冲少、能效高</a:t>
                      </a:r>
                      <a:r>
                        <a:rPr lang="zh-CN" altLang="en-US" sz="1200"/>
                        <a:t>；第一枚 </a:t>
                      </a:r>
                      <a:r>
                        <a:rPr lang="en-US" altLang="zh-CN" sz="1200"/>
                        <a:t>spike </a:t>
                      </a:r>
                      <a:r>
                        <a:rPr lang="zh-CN" altLang="en-US" sz="1200"/>
                        <a:t>到达后就能携带较多信息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对时间抖动和 </a:t>
                      </a:r>
                      <a:r>
                        <a:rPr lang="en-US" altLang="zh-CN" sz="1200" b="1"/>
                        <a:t>spike </a:t>
                      </a:r>
                      <a:r>
                        <a:rPr lang="zh-CN" altLang="en-US" sz="1200" b="1"/>
                        <a:t>丢失敏感</a:t>
                      </a:r>
                      <a:r>
                        <a:rPr lang="zh-CN" altLang="en-US" sz="1200"/>
                        <a:t>；需要明确的时间起点或参考时刻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724524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r>
                        <a:rPr lang="en-US" sz="1200" b="1"/>
                        <a:t>Rank-order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多个神经元的发放先后顺序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只关心先后、不要求精确毫秒时间</a:t>
                      </a:r>
                      <a:r>
                        <a:rPr lang="zh-CN" altLang="en-US" sz="1200"/>
                        <a:t>；对整体时间平移更鲁棒，编码速度快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丢失绝对时间差的信息</a:t>
                      </a:r>
                      <a:r>
                        <a:rPr lang="zh-CN" altLang="en-US" sz="1200"/>
                        <a:t>；依赖多个神经元之间的相对比较，纯顺序模型偏工程抽象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668414"/>
                  </a:ext>
                </a:extLst>
              </a:tr>
              <a:tr h="188422">
                <a:tc>
                  <a:txBody>
                    <a:bodyPr/>
                    <a:lstStyle/>
                    <a:p>
                      <a:r>
                        <a:rPr lang="en-US" sz="1200" b="1"/>
                        <a:t>Phase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spike </a:t>
                      </a:r>
                      <a:r>
                        <a:rPr lang="zh-CN" altLang="en-US" sz="1200"/>
                        <a:t>在周期中的相位位置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时间信息丰富</a:t>
                      </a:r>
                      <a:r>
                        <a:rPr lang="zh-CN" altLang="en-US" sz="1200"/>
                        <a:t>，能利用周期和节律结构；适合听觉、导航等周期性信号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必须存在或人为定义参考周期</a:t>
                      </a:r>
                      <a:r>
                        <a:rPr lang="zh-CN" altLang="en-US" sz="1200"/>
                        <a:t>；同步和实现更复杂，对非周期数据不一定合适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893580"/>
                  </a:ext>
                </a:extLst>
              </a:tr>
              <a:tr h="124128">
                <a:tc>
                  <a:txBody>
                    <a:bodyPr/>
                    <a:lstStyle/>
                    <a:p>
                      <a:r>
                        <a:rPr lang="en-US" sz="1200" b="1"/>
                        <a:t>ISI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相邻 </a:t>
                      </a:r>
                      <a:r>
                        <a:rPr lang="en-US" altLang="zh-CN" sz="1200"/>
                        <a:t>spike </a:t>
                      </a:r>
                      <a:r>
                        <a:rPr lang="zh-CN" altLang="en-US" sz="1200"/>
                        <a:t>之间的时间间隔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少量 </a:t>
                      </a:r>
                      <a:r>
                        <a:rPr lang="en-US" altLang="zh-CN" sz="1200" b="1"/>
                        <a:t>spike </a:t>
                      </a:r>
                      <a:r>
                        <a:rPr lang="zh-CN" altLang="en-US" sz="1200" b="1"/>
                        <a:t>就能携带连续信息</a:t>
                      </a:r>
                      <a:r>
                        <a:rPr lang="zh-CN" altLang="en-US" sz="1200"/>
                        <a:t>；充分利用 </a:t>
                      </a:r>
                      <a:r>
                        <a:rPr lang="en-US" altLang="zh-CN" sz="1200"/>
                        <a:t>spike </a:t>
                      </a:r>
                      <a:r>
                        <a:rPr lang="zh-CN" altLang="en-US" sz="1200"/>
                        <a:t>间的时间结构，不需要单纯依赖计数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对时间误差较敏感</a:t>
                      </a:r>
                      <a:r>
                        <a:rPr lang="zh-CN" altLang="en-US" sz="1200"/>
                        <a:t>；不同任务中“输入如何映射到 </a:t>
                      </a:r>
                      <a:r>
                        <a:rPr lang="en-US" altLang="zh-CN" sz="1200"/>
                        <a:t>ISI”</a:t>
                      </a:r>
                      <a:r>
                        <a:rPr lang="zh-CN" altLang="en-US" sz="1200"/>
                        <a:t>没有统一标准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763882"/>
                  </a:ext>
                </a:extLst>
              </a:tr>
              <a:tr h="166991">
                <a:tc>
                  <a:txBody>
                    <a:bodyPr/>
                    <a:lstStyle/>
                    <a:p>
                      <a:r>
                        <a:rPr lang="en-US" sz="1200" b="1"/>
                        <a:t>Burst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burst </a:t>
                      </a:r>
                      <a:r>
                        <a:rPr lang="zh-CN" altLang="en-US" sz="1200"/>
                        <a:t>开始时间、内部 </a:t>
                      </a:r>
                      <a:r>
                        <a:rPr lang="en-US" altLang="zh-CN" sz="1200"/>
                        <a:t>spike </a:t>
                      </a:r>
                      <a:r>
                        <a:rPr lang="zh-CN" altLang="en-US" sz="1200"/>
                        <a:t>数和间隔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一次 </a:t>
                      </a:r>
                      <a:r>
                        <a:rPr lang="en-US" altLang="zh-CN" sz="1200" b="1"/>
                        <a:t>burst </a:t>
                      </a:r>
                      <a:r>
                        <a:rPr lang="zh-CN" altLang="en-US" sz="1200" b="1"/>
                        <a:t>可同时携带多维信息</a:t>
                      </a:r>
                      <a:r>
                        <a:rPr lang="zh-CN" altLang="en-US" sz="1200"/>
                        <a:t>，例如“什么时候发生”和“刺激有多强”；结构丰富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编码和解码都更复杂</a:t>
                      </a:r>
                      <a:r>
                        <a:rPr lang="zh-CN" altLang="en-US" sz="1200"/>
                        <a:t>；</a:t>
                      </a:r>
                      <a:r>
                        <a:rPr lang="en-US" altLang="zh-CN" sz="1200"/>
                        <a:t>burst </a:t>
                      </a:r>
                      <a:r>
                        <a:rPr lang="zh-CN" altLang="en-US" sz="1200"/>
                        <a:t>的定义、长度和内部结构需要额外设计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25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/>
                        <a:t>Population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一群神经元的联合活动模式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分布式、鲁棒、表达能力强</a:t>
                      </a:r>
                      <a:r>
                        <a:rPr lang="zh-CN" altLang="en-US" sz="1200"/>
                        <a:t>；单个神经元有噪声或失效时，群体仍可表示信息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需要更多神经元和计算资源</a:t>
                      </a:r>
                      <a:r>
                        <a:rPr lang="zh-CN" altLang="en-US" sz="1200"/>
                        <a:t>；调谐中心、宽度等参数需要设计或学习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692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/>
                        <a:t>Event / Delta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输入相对于之前发生的变化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强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稀疏、低延迟、事件驱动</a:t>
                      </a:r>
                      <a:r>
                        <a:rPr lang="zh-CN" altLang="en-US" sz="1200"/>
                        <a:t>；没有显著变化时不发送信息，可显著减少计算和通信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不擅长直接表达静态绝对值</a:t>
                      </a:r>
                      <a:r>
                        <a:rPr lang="zh-CN" altLang="en-US" sz="1200" dirty="0"/>
                        <a:t>；阈值选择敏感，噪声可能导致额外事件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559527"/>
                  </a:ext>
                </a:extLst>
              </a:tr>
              <a:tr h="224141">
                <a:tc>
                  <a:txBody>
                    <a:bodyPr/>
                    <a:lstStyle/>
                    <a:p>
                      <a:r>
                        <a:rPr lang="en-US" sz="1200" b="1"/>
                        <a:t>Direct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连续输入值直接驱动神经元状态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工程为主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实现最简单、计算效率高、训练稳定</a:t>
                      </a:r>
                      <a:r>
                        <a:rPr lang="zh-CN" altLang="en-US" sz="1200" dirty="0"/>
                        <a:t>；特别适合 </a:t>
                      </a:r>
                      <a:r>
                        <a:rPr lang="en-US" altLang="zh-CN" sz="1200" dirty="0"/>
                        <a:t>MNIST </a:t>
                      </a:r>
                      <a:r>
                        <a:rPr lang="zh-CN" altLang="en-US" sz="1200" dirty="0"/>
                        <a:t>等静态图像输入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输入本身没有真正的脉冲时间编码</a:t>
                      </a:r>
                      <a:r>
                        <a:rPr lang="zh-CN" altLang="en-US" sz="1200"/>
                        <a:t>；稀疏性和事件驱动优势较弱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261273"/>
                  </a:ext>
                </a:extLst>
              </a:tr>
              <a:tr h="565667">
                <a:tc>
                  <a:txBody>
                    <a:bodyPr/>
                    <a:lstStyle/>
                    <a:p>
                      <a:r>
                        <a:rPr lang="en-US" sz="1200" b="1"/>
                        <a:t>Binary Temporal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不同时间位置对应不同二进制权重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工程为主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表示紧凑、数值精度高</a:t>
                      </a:r>
                      <a:r>
                        <a:rPr lang="zh-CN" altLang="en-US" sz="1200" dirty="0"/>
                        <a:t>；不同 </a:t>
                      </a:r>
                      <a:r>
                        <a:rPr lang="en-US" altLang="zh-CN" sz="1200" dirty="0"/>
                        <a:t>timestep </a:t>
                      </a:r>
                      <a:r>
                        <a:rPr lang="zh-CN" altLang="en-US" sz="1200" dirty="0"/>
                        <a:t>权重明确，少量时间步即可表示连续值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对 </a:t>
                      </a:r>
                      <a:r>
                        <a:rPr lang="en-US" altLang="zh-CN" sz="1200" b="1" dirty="0"/>
                        <a:t>spike </a:t>
                      </a:r>
                      <a:r>
                        <a:rPr lang="zh-CN" altLang="en-US" sz="1200" b="1" dirty="0"/>
                        <a:t>出现的位置非常敏感</a:t>
                      </a:r>
                      <a:r>
                        <a:rPr lang="zh-CN" altLang="en-US" sz="1200" dirty="0"/>
                        <a:t>；高位错误影响大，且缺乏明确的生物学机制对应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03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4452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13585</TotalTime>
  <Words>4008</Words>
  <Application>Microsoft Office PowerPoint</Application>
  <PresentationFormat>宽屏</PresentationFormat>
  <Paragraphs>340</Paragraphs>
  <Slides>29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-apple-system</vt:lpstr>
      <vt:lpstr>Helvetica Neue</vt:lpstr>
      <vt:lpstr>等线</vt:lpstr>
      <vt:lpstr>钉钉进步体</vt:lpstr>
      <vt:lpstr>微软雅黑</vt:lpstr>
      <vt:lpstr>Arial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ssx</dc:creator>
  <cp:lastModifiedBy>尚轩 石</cp:lastModifiedBy>
  <cp:revision>1044</cp:revision>
  <dcterms:created xsi:type="dcterms:W3CDTF">2023-08-09T12:44:00Z</dcterms:created>
  <dcterms:modified xsi:type="dcterms:W3CDTF">2026-09-12T09:04:00Z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